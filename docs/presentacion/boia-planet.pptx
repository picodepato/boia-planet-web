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01 · Portada y resumen" id="{ed73dd6c-95ed-a2c1-d2f2-db5b87e0c1da}">
          <p14:sldIdLst>
            <p14:sldId id="256"/>
            <p14:sldId id="257"/>
          </p14:sldIdLst>
        </p14:section>
        <p14:section name="02 · Landing" id="{c5c5a108-8c22-c1dc-9a2b-4986cf68e263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03 · Páginas" id="{2763e9e4-3a12-9b0e-bb45-20cbd5b41fc3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04 · Carnet BOIA y Ranking" id="{b4553f3f-0c22-d1c1-8d38-1529e181a736}">
          <p14:sldIdLst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05 · El océano" id="{eb5cccf7-6191-2c65-5b74-dc5438bc747c}">
          <p14:sldIdLst>
            <p14:sldId id="286"/>
            <p14:sldId id="287"/>
          </p14:sldIdLst>
        </p14:section>
        <p14:section name="06 · Minijuegos" id="{4be6980e-6545-7d6a-661d-9765a039a19b}">
          <p14:sldIdLst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</p14:sldIdLst>
        </p14:section>
        <p14:section name="07 · Admin" id="{f3605db9-40db-0622-cb58-b921049db50f}">
          <p14:sldIdLst>
            <p14:sldId id="299"/>
            <p14:sldId id="300"/>
          </p14:sldIdLst>
        </p14:section>
        <p14:section name="08 · Hoja de ruta para salir" id="{63d4d133-5422-d4be-1dc1-00b191c1fc68}">
          <p14:sldIdLst>
            <p14:sldId id="301"/>
            <p14:sldId id="30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Repasamos la web entera, sección a sección, tal y como está hoy.
- En cada sección: qué es, qué tiene, qué falta para salir y vuestras preguntas.
- El objetivo: saber qué nos separa de publicarla cuanto 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Diapositiva provisional: la escribe la tarea T211.
- Se quita al escribir la parte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La landing es la puerta de entrada y la que vende entradas.
- Es una sola página que se baja con el dedo: del planeta al mar y a cada sección.
- Dos bloques: el hero con la compra, y las secciones que suben al bajar.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Es la primera impresión: tiene que cargar rápido también en móviles normales.
- «Consigue descuentos» tiene un destello suave cada 8 segundos.
- En las esquinas: «BOIA · Alicante», las coordenadas y la frase de BOIA.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Halloween y Sonido se pagan en la puerta: con el Carnet BOIA, 2 € menos.
- Nochevieja abre una compra de prueba: hoy no se cobra nada.
- Con «reducir movimiento», sin 3D o con poca memoria sale una imagen fija de Blender con los mismos botones.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Lo naranja hace falta sí o sí para publicar; lo violeta puede llegar después.
- Hoy las horas, los precios y los enlaces de compra son de muestra.
- La tipografía puede esperar: la que va ahora es casi igual.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Las propuestas salen del código y de los documentos: son ideas, no decisiones.
- Hoy la taquilla se marca en el contenido, no en el Admin.
- Apuntamos lo que se decida y entra en la hoja de ruta.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El próximo evento sale en grande; sin cartel, dice «Cartel próximamente».
- Cada evento tiene su botón de compra y su página.
- Las fotos son huecos de muestra; «Ver todas» y «Ir en barco» llevan a todas.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Punto de Hernán: falta el enlace real de cada artista (Spotify u otro).
- Sin foto: en la banda sólo sale el nombre; las fotos van en la página de artistas.
- La web no carga nada de Spotify: sólo enlaza.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Punto de Hernán: la filosofía la aprueba Álvaro, tal cual o con cambios.
- El menú «Filosofía» lleva directamente aquí.
- Hoy el Admin no edita este texto: el cambio lo pone Hernán en el contenido.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Tienda: camisetas, tote bags y pegatinas; cada una pasa tres fotos de muestra. «Comprar» manda a escribir por Instagram.
- Pie: el logo, la lista de Spotify, invitación al Carnet y al WhatsApp, redes, legales, «Ver la introducción» y «Probar admin».
- Cabecera: «Entradas» siempre a mano; con cuentas, «Cerrar sesión» junto al Carnet.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Todo esto entra sin tocar código: un archivo con los enlaces y una carpeta con las imágenes.
- Cada enlace de prueba lleva hoy la etiqueta «MUESTRA», que desaparece al poner el real.
- Sin fotos de artistas la banda funciona: sólo sale el nombre.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Son propuestas del equipo: Hernán las revisa antes de hacer nada.
- Lo que se decida entra en la hoja de ruta de la parte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Son páginas sencillas, sin el planeta 3D: cargan rápido y se pueden compartir por WhatsApp.
- Todo lo que se ve hoy es de muestra salvo los nombres y fechas de los eventos.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Hoy hay tres eventos a la venta: Halloween (31 oct), SONIDO (5 dic) y Nochevieja.
- Las fechas son reales; horas y precios, de muestra.
- Si alguien cambia algo en el Admin, la ficha lo enseña en ese navegador.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Halloween y SONIDO no se venden en la web: entradas en la puerta y 2 € de descuento con el Carnet BOIA.
- El aviso invita a hacerse el Carnet; es una forma de conseguir socios.
- Nochevieja sigue con la compra de prueba, que no cobra 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La lista sale con iniciales en vez de foto y un Spotify de muestra en uno de cada dos.
- El enlace de artistas es uno solo: quien crea su Carnet con él lleva el sello «ARTISTA».
- Con cuentas, el Admin crea el enlace y puede cambiarlo; el anterior deja de valer.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Fotos: una galería por isla y evento; desde cada isla del mar se llega a sus fotos.
- El Admin ya puede subir fotos reales a un evento; hoy todas son recuadros de muestra.
- Tienda: no se vende online; «Comprar» manda a escribir por Instagram a @boia.planet.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El aviso de arriba evita que alguien lo tome por real mientras tanto.
- Hace falta un profesional que revise los textos con los datos de BOIA.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Halloween es el primer evento real: su cartel es lo más urgente.
- Las fotos de artistas pueden esperar: las iniciales quedan dignas.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Sin legales reales no se puede publicar: es lo que más tarda, hay que empezar ya.
- Las fotos de la tienda y de eventos dan mucha vida: mejor pocas y buenas.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Las propuestas salen del código y de los documentos: son ideas, no decisiones; Hernán las revisa.
- Lo que se decida entra en la hoja de ruta de la parte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El Carnet es la identidad de cada persona en BOIA.PLANET: lo que ha vivido, no lo que tiene.
- Hoy todo se guarda en el navegador de cada uno: nadie más lo ve hasta que haya cuentas.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Los rangos van por puntos: Grumete, Marinera, Timonel y Capitana de la fiesta (nombres y cifras de muestra).
- El número de miembro sale con una raya: lo da el servidor cuando haya cuentas.
- La línea de letras de abajo imita la de un pasaporte.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Los sellos de la captura se pusieron para la foto; cada fiesta tendrá su propio diseño.
- El Carnet público nunca enseña el email; se puede reportar si algo está mal. Los de muestra llevan «MUESTRA».
- El de artista es igual, con el sello «ARTISTA» y «Carnet de artista».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Todo esto está hecho y probado con un servidor de pruebas; falta encenderlo en la web publicada.
- El QR de cada fiesta lo crea el Admin (Fiestas y QR) cuando haya cuentas.
- Sin cuentas, el sello sólo llega con la compra de prueba de la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Hoy cada uno compite contra sí mismo y tres miembros de muestra: lo dice arriba del panel.
- Con cuentas, el ranking es de todos, con tu fila marcada aunque no estés arriba.
- Falta una pestaña de temporada: está esperando a decidir qué es una temporada.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El desplegable del Castillo se ve abierto para la foto; en el móvil es el selector normal.
- Quien no tiene partida en una tabla sale abajo con «sin partida», sin puesto.
- Los miembros de muestra llevan la etiqueta «muestra»; con cuentas, las tablas son de personas reales.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Lo primero son las cuentas: sin ellas el Carnet no sale del móvil de cada uno.
- El arte del Carnet y los puntos los decide Álvaro; el código ya acepta cambiarlos.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Las propuestas salen del código y de los documentos: son ideas, no decisiones; Hernán las revisa.
- Lo que se decida entra en la hoja de ruta de la parte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Portada de la parte.
- La completa la tarea T208.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Diapositiva provisional.
- Se quita al escribir la parte.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Los tres se juegan en el mismo mar, con el mismo barco: no hay que cambiar de pantalla.
- Son la segunda vía para que la gente vuelva a la web entre fiesta y fiesta.
- Todo lo que se ve es de muestra: nombres, cifras y premios esperan el visto bueno de Álvaro.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La salida es también la meta, junto al semáforo.
- Compites contra los tiempos de la tripulación de muestra y contra ti mismo.
- Fijaos: el botón «Menú» y el «!» tapan un trozo de la tarjeta; está en «qué falta».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Medalla de oro, plata o bronce según el tiempo; la tarjeta dice cuánto falta para la siguiente.
- «Otra vez» corre contra un fantasma: tu mejor carrera, a tu lado.
- Acabarla da el logro «Primera regata»; bajar de 80 s, «Rápido», que regala la mascota «Tortuga turbo».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Se juega donde está el barco, en el mismo mar: el resto del mundo se aparta y vuelve igual al acabar.
- El acto 2 se abre al vencer al jefe final del acto 1; el acto 3 dice «Próximamente».
- El pop-up enseña el ranking contra el jefe final de ese acto.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Arriba a la derecha, las armas y vinilos que llevas, con su nivel.
- La partida espera mientras eliges carta; se juega con el dedo o con el teclado.
- El botón «Derrota: sumergirse» de abajo es de prueba y se quita al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Premio de muestra: bronce 30 puntos y 10 monedas, plata 60 y 20, oro 100 y 40.
- Una partida empezada con atajos de prueba nunca entra en el ranking, y la tarjeta lo dice.
- El sonido está hecho por la propia web (drum and bass): sin licencias que pagar.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Cuanto más larga, más jefes: en la de 10 minutos llegan el Vecino, el Martillo, el Fantasma y el Kraken.
- Las islas se suben a nivel 3, se venden y se elige a quién disparan; el avión y el castillo también mejoran.
- La primera partida pregunta si quieres una guía con bocadillos cortos.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×2 acelera la partida y «Llamar oleada» la adelanta a cambio de unas monedas.
- Ganar en cada dificultad da un logro; en Tormenta, la mascota «Cañoncito», y en Tormenta de 10 min, una estela.
- Hoy un jugador automático gana todas, también Tormenta: hay que decidir si se endurece.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El Tablón del faro, cerca de la salida, explica los tres juegos y enseña tu mejor medalla.
- Desde el minimapa se elige navegar hasta el juego o ir directamente.
- Sin cuentas cada uno compite en su navegador contra tres miembros de muestra.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Los atajos sólo funcionan con un código en la dirección, pero no deben salir en la versión final.
- Los rankings de todos llegan con las cuentas de usuario (parte 4).
- Las cifras se cambian en la configuración sin tocar los juegos.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Las propuestas salen del código y de los documentos: son ideas, no decisiones; Hernán las revisa.
- Lo que se decida entra en la hoja de ruta de la parte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Portada de la parte.
- La completa la tarea T210.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Diapositiva provisional.
- Se quita al escribir la parte.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Portada de la parte.
- La completa la tarea T211.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Diapositiva provisional.
- Se quita al escribir la parte.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IA_PORTADA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IA_PARTE"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3969" y="6428232"/>
            <a:ext cx="849086" cy="23774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4E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IA_ANCHO">
    <p:bg>
      <p:bgPr>
        <a:solidFill>
          <a:srgbClr val="0B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3969" y="6428232"/>
            <a:ext cx="849086" cy="23774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4E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IA_MITAD">
    <p:bg>
      <p:bgPr>
        <a:solidFill>
          <a:srgbClr val="0B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3969" y="6428232"/>
            <a:ext cx="849086" cy="23774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603504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4E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4E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jpeg"/><Relationship Id="rId3" Type="http://schemas.openxmlformats.org/officeDocument/2006/relationships/image" Target="../media/image-11-3.jpe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image" Target="../media/image-16-2.jpeg"/><Relationship Id="rId3" Type="http://schemas.openxmlformats.org/officeDocument/2006/relationships/image" Target="../media/image-16-3.jpe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image" Target="../media/image-17-2.jpe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image" Target="../media/image-18-2.jpeg"/><Relationship Id="rId3" Type="http://schemas.openxmlformats.org/officeDocument/2006/relationships/image" Target="../media/image-18-3.jpe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e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eg"/><Relationship Id="rId2" Type="http://schemas.openxmlformats.org/officeDocument/2006/relationships/image" Target="../media/image-25-2.jpeg"/><Relationship Id="rId3" Type="http://schemas.openxmlformats.org/officeDocument/2006/relationships/image" Target="../media/image-25-3.jpe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e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e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eg"/><Relationship Id="rId2" Type="http://schemas.openxmlformats.org/officeDocument/2006/relationships/image" Target="../media/image-28-2.jpeg"/><Relationship Id="rId3" Type="http://schemas.openxmlformats.org/officeDocument/2006/relationships/image" Target="../media/image-28-3.jpe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e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eg"/><Relationship Id="rId2" Type="http://schemas.openxmlformats.org/officeDocument/2006/relationships/image" Target="../media/image-35-2.jpe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e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eg"/><Relationship Id="rId2" Type="http://schemas.openxmlformats.org/officeDocument/2006/relationships/image" Target="../media/image-37-2.jpeg"/><Relationship Id="rId3" Type="http://schemas.openxmlformats.org/officeDocument/2006/relationships/image" Target="../media/image-37-3.jpe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e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e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eg"/><Relationship Id="rId2" Type="http://schemas.openxmlformats.org/officeDocument/2006/relationships/image" Target="../media/image-40-2.jpeg"/><Relationship Id="rId3" Type="http://schemas.openxmlformats.org/officeDocument/2006/relationships/image" Target="../media/image-40-3.jpe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3720" y="777240"/>
            <a:ext cx="5120640" cy="5120640"/>
          </a:xfrm>
          <a:prstGeom prst="ellipse">
            <a:avLst/>
          </a:prstGeom>
          <a:solidFill>
            <a:srgbClr val="07101F"/>
          </a:solidFill>
          <a:ln w="25400">
            <a:solidFill>
              <a:srgbClr val="2F4A72"/>
            </a:solidFill>
            <a:prstDash val="solid"/>
          </a:ln>
        </p:spPr>
      </p:sp>
      <p:pic>
        <p:nvPicPr>
          <p:cNvPr id="3" name="Image 0" descr="La mascota de BO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9483" y="1371600"/>
            <a:ext cx="3929113" cy="3931920"/>
          </a:xfrm>
          <a:prstGeom prst="rect">
            <a:avLst/>
          </a:prstGeom>
        </p:spPr>
      </p:pic>
      <p:pic>
        <p:nvPicPr>
          <p:cNvPr id="4" name="Image 1" descr="BOI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822960"/>
            <a:ext cx="4206240" cy="1177747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23317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C4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PARA LOS SOCIOS DE BOIA</a:t>
            </a:r>
            <a:endParaRPr lang="en-US" sz="1300" dirty="0"/>
          </a:p>
        </p:txBody>
      </p:sp>
      <p:sp>
        <p:nvSpPr>
          <p:cNvPr id="6" name="Título"/>
          <p:cNvSpPr txBox="1"/>
          <p:nvPr/>
        </p:nvSpPr>
        <p:spPr>
          <a:xfrm>
            <a:off x="548640" y="2697480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BOIA.PLANET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3611880"/>
            <a:ext cx="6126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EC4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Qué hay y qué falta para salir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Octubre de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4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·  PORTADA Y RESUMEN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Pendiente: resumen y estado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69494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Aquí irán qué es BOIA.PLANET, el mapa de la presentación y dónde está hoy la versión de prueba.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0" y="1828800"/>
            <a:ext cx="3383280" cy="3383280"/>
          </a:xfrm>
          <a:prstGeom prst="ellipse">
            <a:avLst/>
          </a:prstGeom>
          <a:solidFill>
            <a:srgbClr val="07101F"/>
          </a:solidFill>
          <a:ln w="25400">
            <a:solidFill>
              <a:srgbClr val="2F4A72"/>
            </a:solidFill>
            <a:prstDash val="solid"/>
          </a:ln>
        </p:spPr>
      </p:sp>
      <p:pic>
        <p:nvPicPr>
          <p:cNvPr id="6" name="Image 0" descr="La mascota de BO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2359" y="2240280"/>
            <a:ext cx="2557762" cy="2560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4E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0" y="1325880"/>
            <a:ext cx="3749040" cy="3749040"/>
          </a:xfrm>
          <a:prstGeom prst="ellipse">
            <a:avLst/>
          </a:prstGeom>
          <a:solidFill>
            <a:srgbClr val="0B1830"/>
          </a:solidFill>
          <a:ln w="25400">
            <a:solidFill>
              <a:srgbClr val="2F4A72"/>
            </a:solidFill>
            <a:prstDash val="solid"/>
          </a:ln>
        </p:spPr>
      </p:sp>
      <p:pic>
        <p:nvPicPr>
          <p:cNvPr id="3" name="Image 0" descr="La mascota de BO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9616" y="1783080"/>
            <a:ext cx="2831808" cy="2834640"/>
          </a:xfrm>
          <a:prstGeom prst="rect">
            <a:avLst/>
          </a:prstGeom>
        </p:spPr>
      </p:pic>
      <p:sp>
        <p:nvSpPr>
          <p:cNvPr id="4" name="Número de parte"/>
          <p:cNvSpPr txBox="1"/>
          <p:nvPr/>
        </p:nvSpPr>
        <p:spPr>
          <a:xfrm>
            <a:off x="548640" y="64008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0" dirty="0">
                <a:solidFill>
                  <a:srgbClr val="EC4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2000" dirty="0"/>
          </a:p>
        </p:txBody>
      </p:sp>
      <p:sp>
        <p:nvSpPr>
          <p:cNvPr id="5" name="Título"/>
          <p:cNvSpPr txBox="1"/>
          <p:nvPr/>
        </p:nvSpPr>
        <p:spPr>
          <a:xfrm>
            <a:off x="548640" y="2606040"/>
            <a:ext cx="7315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Landing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1148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primero que ve quien entra: el planeta, las entradas y todo BOIA en un solo scroll</a:t>
            </a:r>
            <a:endParaRPr lang="en-US" sz="1800" dirty="0"/>
          </a:p>
        </p:txBody>
      </p:sp>
      <p:sp>
        <p:nvSpPr>
          <p:cNvPr id="7" name="Secciones"/>
          <p:cNvSpPr txBox="1"/>
          <p:nvPr/>
        </p:nvSpPr>
        <p:spPr>
          <a:xfrm>
            <a:off x="548640" y="50292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9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  ·   Entradas   ·   Próximo evento   ·   Fotos   ·   Artistas   ·   Filosofía   ·   Tienda   ·   Pie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4E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548640" y="4114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4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LANDING  ·  HERO Y ENTRADAS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6035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hero: el planeta BOIA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6035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entrar aparece el planeta BOIA en 3D, con el nombre en grande y dos botones: «Zarpar», que lleva al océano a jugar, y «Entradas», que abre la compra.</a:t>
            </a:r>
            <a:endParaRPr lang="en-US" sz="160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Bajo «Zarpar», la línea «Consigue descuentos» recuerda que en el mar hay códigos escondidos.</a:t>
            </a:r>
            <a:endParaRPr lang="en-US" sz="160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bajar con el dedo, la cámara se zambulle en el mar y empieza el resto de la página.</a:t>
            </a:r>
            <a:endParaRPr lang="en-US" sz="1600" dirty="0"/>
          </a:p>
        </p:txBody>
      </p:sp>
      <p:sp>
        <p:nvSpPr>
          <p:cNvPr id="5" name="Destacado"/>
          <p:cNvSpPr txBox="1"/>
          <p:nvPr/>
        </p:nvSpPr>
        <p:spPr>
          <a:xfrm>
            <a:off x="548640" y="4937760"/>
            <a:ext cx="6035040" cy="1051560"/>
          </a:xfrm>
          <a:prstGeom prst="roundRect">
            <a:avLst>
              <a:gd name="adj" fmla="val 10435"/>
            </a:avLst>
          </a:prstGeom>
          <a:solidFill>
            <a:srgbClr val="1A3052"/>
          </a:solidFill>
          <a:ln w="12700">
            <a:solidFill>
              <a:srgbClr val="2F4A72"/>
            </a:solidFill>
          </a:ln>
        </p:spPr>
        <p:txBody>
          <a:bodyPr wrap="square" lIns="127000" tIns="203200" rIns="203200" bIns="12700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dos formas de convertir, en la primera pantalla: comprar o zarpar.</a:t>
            </a:r>
            <a:endParaRPr lang="en-US" sz="1700" dirty="0"/>
          </a:p>
        </p:txBody>
      </p:sp>
      <p:sp>
        <p:nvSpPr>
          <p:cNvPr id="6" name="Teléfono"/>
          <p:cNvSpPr/>
          <p:nvPr/>
        </p:nvSpPr>
        <p:spPr>
          <a:xfrm>
            <a:off x="7984387" y="411480"/>
            <a:ext cx="2623721" cy="5760720"/>
          </a:xfrm>
          <a:prstGeom prst="roundRect">
            <a:avLst>
              <a:gd name="adj" fmla="val 9758"/>
            </a:avLst>
          </a:prstGeom>
          <a:solidFill>
            <a:srgbClr val="05080F"/>
          </a:solidFill>
          <a:ln w="15875">
            <a:solidFill>
              <a:srgbClr val="2F4A72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021928" y="493776"/>
            <a:ext cx="548640" cy="64008"/>
          </a:xfrm>
          <a:prstGeom prst="roundRect">
            <a:avLst>
              <a:gd name="adj" fmla="val 50000"/>
            </a:avLst>
          </a:prstGeom>
          <a:solidFill>
            <a:srgbClr val="2F4A72"/>
          </a:solidFill>
          <a:ln w="12700">
            <a:solidFill>
              <a:srgbClr val="2F4A72"/>
            </a:solidFill>
            <a:prstDash val="solid"/>
          </a:ln>
        </p:spPr>
      </p:sp>
      <p:pic>
        <p:nvPicPr>
          <p:cNvPr id="8" name="Image 0" descr="Captura de la we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6683" y="630936"/>
            <a:ext cx="2459129" cy="53218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4E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4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LANDING  ·  HERO Y ENTRADAS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Entradas y la versión quieta</a:t>
            </a:r>
            <a:endParaRPr lang="en-US" sz="2800" dirty="0"/>
          </a:p>
        </p:txBody>
      </p:sp>
      <p:sp>
        <p:nvSpPr>
          <p:cNvPr id="4" name="Teléfono"/>
          <p:cNvSpPr/>
          <p:nvPr/>
        </p:nvSpPr>
        <p:spPr>
          <a:xfrm>
            <a:off x="2366569" y="1371600"/>
            <a:ext cx="1973024" cy="4352544"/>
          </a:xfrm>
          <a:prstGeom prst="roundRect">
            <a:avLst>
              <a:gd name="adj" fmla="val 12977"/>
            </a:avLst>
          </a:prstGeom>
          <a:solidFill>
            <a:srgbClr val="05080F"/>
          </a:solidFill>
          <a:ln w="15875">
            <a:solidFill>
              <a:srgbClr val="2F4A72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078761" y="1453896"/>
            <a:ext cx="548640" cy="64008"/>
          </a:xfrm>
          <a:prstGeom prst="roundRect">
            <a:avLst>
              <a:gd name="adj" fmla="val 50000"/>
            </a:avLst>
          </a:prstGeom>
          <a:solidFill>
            <a:srgbClr val="2F4A72"/>
          </a:solidFill>
          <a:ln w="12700">
            <a:solidFill>
              <a:srgbClr val="2F4A72"/>
            </a:solidFill>
            <a:prstDash val="solid"/>
          </a:ln>
        </p:spPr>
      </p:sp>
      <p:pic>
        <p:nvPicPr>
          <p:cNvPr id="6" name="Image 0" descr="Captura de la we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8865" y="1591056"/>
            <a:ext cx="1808432" cy="3913632"/>
          </a:xfrm>
          <a:prstGeom prst="rect">
            <a:avLst/>
          </a:prstGeom>
        </p:spPr>
      </p:pic>
      <p:sp>
        <p:nvSpPr>
          <p:cNvPr id="7" name="Pie"/>
          <p:cNvSpPr txBox="1"/>
          <p:nvPr/>
        </p:nvSpPr>
        <p:spPr>
          <a:xfrm>
            <a:off x="2118858" y="5815584"/>
            <a:ext cx="2468447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«Entradas»: los tres eventos a la venta</a:t>
            </a:r>
            <a:endParaRPr lang="en-US" sz="1200" dirty="0"/>
          </a:p>
        </p:txBody>
      </p:sp>
      <p:sp>
        <p:nvSpPr>
          <p:cNvPr id="8" name="Teléfono"/>
          <p:cNvSpPr/>
          <p:nvPr/>
        </p:nvSpPr>
        <p:spPr>
          <a:xfrm>
            <a:off x="5109336" y="1371600"/>
            <a:ext cx="1973024" cy="4352544"/>
          </a:xfrm>
          <a:prstGeom prst="roundRect">
            <a:avLst>
              <a:gd name="adj" fmla="val 12977"/>
            </a:avLst>
          </a:prstGeom>
          <a:solidFill>
            <a:srgbClr val="05080F"/>
          </a:solidFill>
          <a:ln w="15875">
            <a:solidFill>
              <a:srgbClr val="2F4A72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21528" y="1453896"/>
            <a:ext cx="548640" cy="64008"/>
          </a:xfrm>
          <a:prstGeom prst="roundRect">
            <a:avLst>
              <a:gd name="adj" fmla="val 50000"/>
            </a:avLst>
          </a:prstGeom>
          <a:solidFill>
            <a:srgbClr val="2F4A72"/>
          </a:solidFill>
          <a:ln w="12700">
            <a:solidFill>
              <a:srgbClr val="2F4A72"/>
            </a:solidFill>
            <a:prstDash val="solid"/>
          </a:ln>
        </p:spPr>
      </p:sp>
      <p:pic>
        <p:nvPicPr>
          <p:cNvPr id="10" name="Image 1" descr="Captura de la we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1632" y="1591056"/>
            <a:ext cx="1808432" cy="3913632"/>
          </a:xfrm>
          <a:prstGeom prst="rect">
            <a:avLst/>
          </a:prstGeom>
        </p:spPr>
      </p:pic>
      <p:sp>
        <p:nvSpPr>
          <p:cNvPr id="11" name="Pie"/>
          <p:cNvSpPr txBox="1"/>
          <p:nvPr/>
        </p:nvSpPr>
        <p:spPr>
          <a:xfrm>
            <a:off x="4861624" y="5815584"/>
            <a:ext cx="2468447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Halloween y Sonido: sólo en taquilla</a:t>
            </a:r>
            <a:endParaRPr lang="en-US" sz="1200" dirty="0"/>
          </a:p>
        </p:txBody>
      </p:sp>
      <p:sp>
        <p:nvSpPr>
          <p:cNvPr id="12" name="Teléfono"/>
          <p:cNvSpPr/>
          <p:nvPr/>
        </p:nvSpPr>
        <p:spPr>
          <a:xfrm>
            <a:off x="7852102" y="1371600"/>
            <a:ext cx="1973024" cy="4352544"/>
          </a:xfrm>
          <a:prstGeom prst="roundRect">
            <a:avLst>
              <a:gd name="adj" fmla="val 12977"/>
            </a:avLst>
          </a:prstGeom>
          <a:solidFill>
            <a:srgbClr val="05080F"/>
          </a:solidFill>
          <a:ln w="15875">
            <a:solidFill>
              <a:srgbClr val="2F4A72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564294" y="1453896"/>
            <a:ext cx="548640" cy="64008"/>
          </a:xfrm>
          <a:prstGeom prst="roundRect">
            <a:avLst>
              <a:gd name="adj" fmla="val 50000"/>
            </a:avLst>
          </a:prstGeom>
          <a:solidFill>
            <a:srgbClr val="2F4A72"/>
          </a:solidFill>
          <a:ln w="12700">
            <a:solidFill>
              <a:srgbClr val="2F4A72"/>
            </a:solidFill>
            <a:prstDash val="solid"/>
          </a:ln>
        </p:spPr>
      </p:sp>
      <p:pic>
        <p:nvPicPr>
          <p:cNvPr id="14" name="Image 2" descr="Captura de la web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4398" y="1591056"/>
            <a:ext cx="1808432" cy="3913632"/>
          </a:xfrm>
          <a:prstGeom prst="rect">
            <a:avLst/>
          </a:prstGeom>
        </p:spPr>
      </p:pic>
      <p:sp>
        <p:nvSpPr>
          <p:cNvPr id="15" name="Pie"/>
          <p:cNvSpPr txBox="1"/>
          <p:nvPr/>
        </p:nvSpPr>
        <p:spPr>
          <a:xfrm>
            <a:off x="7604391" y="5815584"/>
            <a:ext cx="2468447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animaciones: una imagen fija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4E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4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LANDING  ·  HERO Y ENTRADAS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Qué falta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necesarios para salir   ·   1 puede esperar</a:t>
            </a:r>
            <a:endParaRPr lang="en-US" sz="1300" dirty="0"/>
          </a:p>
        </p:txBody>
      </p:sp>
      <p:sp>
        <p:nvSpPr>
          <p:cNvPr id="5" name="Fila"/>
          <p:cNvSpPr/>
          <p:nvPr/>
        </p:nvSpPr>
        <p:spPr>
          <a:xfrm>
            <a:off x="548640" y="1737360"/>
            <a:ext cx="11094415" cy="640080"/>
          </a:xfrm>
          <a:prstGeom prst="roundRect">
            <a:avLst>
              <a:gd name="adj" fmla="val 14286"/>
            </a:avLst>
          </a:prstGeom>
          <a:solidFill>
            <a:srgbClr val="1A3052"/>
          </a:solidFill>
          <a:ln w="12700">
            <a:solidFill>
              <a:srgbClr val="1A3052"/>
            </a:solidFill>
            <a:prstDash val="solid"/>
          </a:ln>
        </p:spPr>
      </p:sp>
      <p:sp>
        <p:nvSpPr>
          <p:cNvPr id="6" name="Necesario para salir"/>
          <p:cNvSpPr txBox="1"/>
          <p:nvPr/>
        </p:nvSpPr>
        <p:spPr>
          <a:xfrm>
            <a:off x="731520" y="1883664"/>
            <a:ext cx="2148840" cy="347472"/>
          </a:xfrm>
          <a:prstGeom prst="roundRect">
            <a:avLst>
              <a:gd name="adj" fmla="val 50000"/>
            </a:avLst>
          </a:prstGeom>
          <a:solidFill>
            <a:srgbClr val="EC4F24"/>
          </a:solidFill>
          <a:ln w="19050">
            <a:solidFill>
              <a:srgbClr val="EC4F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Necesario para salir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154680" y="1737360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Aprobar el arte del hero: el planeta, los objetos 3D y la imagen fija</a:t>
            </a:r>
            <a:endParaRPr lang="en-US" sz="1500" dirty="0"/>
          </a:p>
        </p:txBody>
      </p:sp>
      <p:sp>
        <p:nvSpPr>
          <p:cNvPr id="8" name="Quién"/>
          <p:cNvSpPr txBox="1"/>
          <p:nvPr/>
        </p:nvSpPr>
        <p:spPr>
          <a:xfrm>
            <a:off x="9905695" y="17373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Álvaro</a:t>
            </a:r>
            <a:endParaRPr lang="en-US" sz="1200" dirty="0"/>
          </a:p>
        </p:txBody>
      </p:sp>
      <p:sp>
        <p:nvSpPr>
          <p:cNvPr id="9" name="Fila"/>
          <p:cNvSpPr/>
          <p:nvPr/>
        </p:nvSpPr>
        <p:spPr>
          <a:xfrm>
            <a:off x="548640" y="2505456"/>
            <a:ext cx="11094415" cy="640080"/>
          </a:xfrm>
          <a:prstGeom prst="roundRect">
            <a:avLst>
              <a:gd name="adj" fmla="val 14286"/>
            </a:avLst>
          </a:prstGeom>
          <a:solidFill>
            <a:srgbClr val="1A3052"/>
          </a:solidFill>
          <a:ln w="12700">
            <a:solidFill>
              <a:srgbClr val="1A3052"/>
            </a:solidFill>
            <a:prstDash val="solid"/>
          </a:ln>
        </p:spPr>
      </p:sp>
      <p:sp>
        <p:nvSpPr>
          <p:cNvPr id="10" name="Necesario para salir"/>
          <p:cNvSpPr txBox="1"/>
          <p:nvPr/>
        </p:nvSpPr>
        <p:spPr>
          <a:xfrm>
            <a:off x="731520" y="2651760"/>
            <a:ext cx="2148840" cy="347472"/>
          </a:xfrm>
          <a:prstGeom prst="roundRect">
            <a:avLst>
              <a:gd name="adj" fmla="val 50000"/>
            </a:avLst>
          </a:prstGeom>
          <a:solidFill>
            <a:srgbClr val="EC4F24"/>
          </a:solidFill>
          <a:ln w="19050">
            <a:solidFill>
              <a:srgbClr val="EC4F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Necesario para salir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154680" y="2505456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Elegir la ticketera y poner el enlace de compra real de cada evento</a:t>
            </a:r>
            <a:endParaRPr lang="en-US" sz="1500" dirty="0"/>
          </a:p>
        </p:txBody>
      </p:sp>
      <p:sp>
        <p:nvSpPr>
          <p:cNvPr id="12" name="Quién"/>
          <p:cNvSpPr txBox="1"/>
          <p:nvPr/>
        </p:nvSpPr>
        <p:spPr>
          <a:xfrm>
            <a:off x="9905695" y="2505456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Álvaro</a:t>
            </a:r>
            <a:endParaRPr lang="en-US" sz="1200" dirty="0"/>
          </a:p>
        </p:txBody>
      </p:sp>
      <p:sp>
        <p:nvSpPr>
          <p:cNvPr id="13" name="Fila"/>
          <p:cNvSpPr/>
          <p:nvPr/>
        </p:nvSpPr>
        <p:spPr>
          <a:xfrm>
            <a:off x="548640" y="3273552"/>
            <a:ext cx="11094415" cy="640080"/>
          </a:xfrm>
          <a:prstGeom prst="roundRect">
            <a:avLst>
              <a:gd name="adj" fmla="val 14286"/>
            </a:avLst>
          </a:prstGeom>
          <a:solidFill>
            <a:srgbClr val="1A3052"/>
          </a:solidFill>
          <a:ln w="12700">
            <a:solidFill>
              <a:srgbClr val="1A3052"/>
            </a:solidFill>
            <a:prstDash val="solid"/>
          </a:ln>
        </p:spPr>
      </p:sp>
      <p:sp>
        <p:nvSpPr>
          <p:cNvPr id="14" name="Necesario para salir"/>
          <p:cNvSpPr txBox="1"/>
          <p:nvPr/>
        </p:nvSpPr>
        <p:spPr>
          <a:xfrm>
            <a:off x="731520" y="3419856"/>
            <a:ext cx="2148840" cy="347472"/>
          </a:xfrm>
          <a:prstGeom prst="roundRect">
            <a:avLst>
              <a:gd name="adj" fmla="val 50000"/>
            </a:avLst>
          </a:prstGeom>
          <a:solidFill>
            <a:srgbClr val="EC4F24"/>
          </a:solidFill>
          <a:ln w="19050">
            <a:solidFill>
              <a:srgbClr val="EC4F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Necesario para salir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154680" y="3273552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Confirmar horas y precios de Halloween, Sonido y Nochevieja, y el descuento de 2 € en taquilla</a:t>
            </a:r>
            <a:endParaRPr lang="en-US" sz="1500" dirty="0"/>
          </a:p>
        </p:txBody>
      </p:sp>
      <p:sp>
        <p:nvSpPr>
          <p:cNvPr id="16" name="Quién"/>
          <p:cNvSpPr txBox="1"/>
          <p:nvPr/>
        </p:nvSpPr>
        <p:spPr>
          <a:xfrm>
            <a:off x="9905695" y="327355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Álvaro</a:t>
            </a:r>
            <a:endParaRPr lang="en-US" sz="1200" dirty="0"/>
          </a:p>
        </p:txBody>
      </p:sp>
      <p:sp>
        <p:nvSpPr>
          <p:cNvPr id="17" name="Fila"/>
          <p:cNvSpPr/>
          <p:nvPr/>
        </p:nvSpPr>
        <p:spPr>
          <a:xfrm>
            <a:off x="548640" y="4041648"/>
            <a:ext cx="11094415" cy="640080"/>
          </a:xfrm>
          <a:prstGeom prst="roundRect">
            <a:avLst>
              <a:gd name="adj" fmla="val 14286"/>
            </a:avLst>
          </a:prstGeom>
          <a:solidFill>
            <a:srgbClr val="1A3052"/>
          </a:solidFill>
          <a:ln w="12700">
            <a:solidFill>
              <a:srgbClr val="1A3052"/>
            </a:solidFill>
            <a:prstDash val="solid"/>
          </a:ln>
        </p:spPr>
      </p:sp>
      <p:sp>
        <p:nvSpPr>
          <p:cNvPr id="18" name="Necesario para salir"/>
          <p:cNvSpPr txBox="1"/>
          <p:nvPr/>
        </p:nvSpPr>
        <p:spPr>
          <a:xfrm>
            <a:off x="731520" y="4187952"/>
            <a:ext cx="2148840" cy="347472"/>
          </a:xfrm>
          <a:prstGeom prst="roundRect">
            <a:avLst>
              <a:gd name="adj" fmla="val 50000"/>
            </a:avLst>
          </a:prstGeom>
          <a:solidFill>
            <a:srgbClr val="EC4F24"/>
          </a:solidFill>
          <a:ln w="19050">
            <a:solidFill>
              <a:srgbClr val="EC4F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Necesario para salir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154680" y="4041648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Aprobar los textos: la frase de las esquinas, «Consigue descuentos» y el aviso de taquilla</a:t>
            </a:r>
            <a:endParaRPr lang="en-US" sz="1500" dirty="0"/>
          </a:p>
        </p:txBody>
      </p:sp>
      <p:sp>
        <p:nvSpPr>
          <p:cNvPr id="20" name="Quién"/>
          <p:cNvSpPr txBox="1"/>
          <p:nvPr/>
        </p:nvSpPr>
        <p:spPr>
          <a:xfrm>
            <a:off x="9905695" y="404164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Álvaro</a:t>
            </a:r>
            <a:endParaRPr lang="en-US" sz="1200" dirty="0"/>
          </a:p>
        </p:txBody>
      </p:sp>
      <p:sp>
        <p:nvSpPr>
          <p:cNvPr id="21" name="Fila"/>
          <p:cNvSpPr/>
          <p:nvPr/>
        </p:nvSpPr>
        <p:spPr>
          <a:xfrm>
            <a:off x="548640" y="4809744"/>
            <a:ext cx="11094415" cy="640080"/>
          </a:xfrm>
          <a:prstGeom prst="roundRect">
            <a:avLst>
              <a:gd name="adj" fmla="val 14286"/>
            </a:avLst>
          </a:prstGeom>
          <a:solidFill>
            <a:srgbClr val="1A3052"/>
          </a:solidFill>
          <a:ln w="12700">
            <a:solidFill>
              <a:srgbClr val="1A3052"/>
            </a:solidFill>
            <a:prstDash val="solid"/>
          </a:ln>
        </p:spPr>
      </p:sp>
      <p:sp>
        <p:nvSpPr>
          <p:cNvPr id="22" name="Necesario para salir"/>
          <p:cNvSpPr txBox="1"/>
          <p:nvPr/>
        </p:nvSpPr>
        <p:spPr>
          <a:xfrm>
            <a:off x="731520" y="4956048"/>
            <a:ext cx="2148840" cy="347472"/>
          </a:xfrm>
          <a:prstGeom prst="roundRect">
            <a:avLst>
              <a:gd name="adj" fmla="val 50000"/>
            </a:avLst>
          </a:prstGeom>
          <a:solidFill>
            <a:srgbClr val="EC4F24"/>
          </a:solidFill>
          <a:ln w="19050">
            <a:solidFill>
              <a:srgbClr val="EC4F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Necesario para salir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154680" y="4809744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Probarlo en móviles de verdad (iPhone y Android): scroll, batería, datos y lector de pantalla</a:t>
            </a:r>
            <a:endParaRPr lang="en-US" sz="1500" dirty="0"/>
          </a:p>
        </p:txBody>
      </p:sp>
      <p:sp>
        <p:nvSpPr>
          <p:cNvPr id="24" name="Quién"/>
          <p:cNvSpPr txBox="1"/>
          <p:nvPr/>
        </p:nvSpPr>
        <p:spPr>
          <a:xfrm>
            <a:off x="9905695" y="4809744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</a:t>
            </a:r>
            <a:endParaRPr lang="en-US" sz="1200" dirty="0"/>
          </a:p>
        </p:txBody>
      </p:sp>
      <p:sp>
        <p:nvSpPr>
          <p:cNvPr id="25" name="Fila"/>
          <p:cNvSpPr/>
          <p:nvPr/>
        </p:nvSpPr>
        <p:spPr>
          <a:xfrm>
            <a:off x="548640" y="5577840"/>
            <a:ext cx="11094415" cy="640080"/>
          </a:xfrm>
          <a:prstGeom prst="roundRect">
            <a:avLst>
              <a:gd name="adj" fmla="val 14286"/>
            </a:avLst>
          </a:prstGeom>
          <a:solidFill>
            <a:srgbClr val="1A3052"/>
          </a:solidFill>
          <a:ln w="12700">
            <a:solidFill>
              <a:srgbClr val="1A3052"/>
            </a:solidFill>
            <a:prstDash val="solid"/>
          </a:ln>
        </p:spPr>
      </p:sp>
      <p:sp>
        <p:nvSpPr>
          <p:cNvPr id="26" name="Puede esperar"/>
          <p:cNvSpPr txBox="1"/>
          <p:nvPr/>
        </p:nvSpPr>
        <p:spPr>
          <a:xfrm>
            <a:off x="731520" y="5724144"/>
            <a:ext cx="2148840" cy="347472"/>
          </a:xfrm>
          <a:prstGeom prst="roundRect">
            <a:avLst>
              <a:gd name="adj" fmla="val 50000"/>
            </a:avLst>
          </a:prstGeom>
          <a:solidFill>
            <a:srgbClr val="0B1830"/>
          </a:solidFill>
          <a:ln w="19050">
            <a:solidFill>
              <a:srgbClr val="B9A6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Puede esperar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3154680" y="5577840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Comprar la licencia de la tipografía Druk Wide (mientras, va una libre muy parecida)</a:t>
            </a:r>
            <a:endParaRPr lang="en-US" sz="1500" dirty="0"/>
          </a:p>
        </p:txBody>
      </p:sp>
      <p:sp>
        <p:nvSpPr>
          <p:cNvPr id="28" name="Quién"/>
          <p:cNvSpPr txBox="1"/>
          <p:nvPr/>
        </p:nvSpPr>
        <p:spPr>
          <a:xfrm>
            <a:off x="9905695" y="55778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Álvaro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4E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4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LANDING  ·  HERO Y ENTRADAS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Preguntas y propuestas</a:t>
            </a:r>
            <a:endParaRPr lang="en-US" sz="2800" dirty="0"/>
          </a:p>
        </p:txBody>
      </p:sp>
      <p:sp>
        <p:nvSpPr>
          <p:cNvPr id="4" name="Preguntas"/>
          <p:cNvSpPr/>
          <p:nvPr/>
        </p:nvSpPr>
        <p:spPr>
          <a:xfrm>
            <a:off x="548640" y="1417320"/>
            <a:ext cx="5364328" cy="4800600"/>
          </a:xfrm>
          <a:prstGeom prst="roundRect">
            <a:avLst>
              <a:gd name="adj" fmla="val 2667"/>
            </a:avLst>
          </a:prstGeom>
          <a:solidFill>
            <a:srgbClr val="1A3052"/>
          </a:solidFill>
          <a:ln w="12700">
            <a:solidFill>
              <a:srgbClr val="2F4A7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457200" cy="457200"/>
          </a:xfrm>
          <a:prstGeom prst="ellipse">
            <a:avLst/>
          </a:prstGeom>
          <a:solidFill>
            <a:srgbClr val="EC4F24"/>
          </a:solidFill>
          <a:ln>
            <a:solidFill>
              <a:srgbClr val="EC4F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9164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Preguntas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481568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¿Os gusta el planeta como primera imagen, o preferís empezar con el cartel del próximo evento?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ticketera usamos: Fourvenues u otra? ¿Hay ya cuenta?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¿Se entiende el aviso de taquilla? ¿Queréis poder activarlo desde el Admin?</a:t>
            </a:r>
            <a:endParaRPr lang="en-US" sz="1500" dirty="0"/>
          </a:p>
        </p:txBody>
      </p:sp>
      <p:sp>
        <p:nvSpPr>
          <p:cNvPr id="8" name="Propuestas"/>
          <p:cNvSpPr/>
          <p:nvPr/>
        </p:nvSpPr>
        <p:spPr>
          <a:xfrm>
            <a:off x="6278728" y="1417320"/>
            <a:ext cx="5364328" cy="4800600"/>
          </a:xfrm>
          <a:prstGeom prst="roundRect">
            <a:avLst>
              <a:gd name="adj" fmla="val 2667"/>
            </a:avLst>
          </a:prstGeom>
          <a:solidFill>
            <a:srgbClr val="1A3052"/>
          </a:solidFill>
          <a:ln w="12700">
            <a:solidFill>
              <a:srgbClr val="2F4A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53048" y="1691640"/>
            <a:ext cx="457200" cy="457200"/>
          </a:xfrm>
          <a:prstGeom prst="ellipse">
            <a:avLst/>
          </a:prstGeom>
          <a:solidFill>
            <a:srgbClr val="B9A6FF"/>
          </a:solidFill>
          <a:ln>
            <a:solidFill>
              <a:srgbClr val="B9A6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08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147408" y="169164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Propuestas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53048" y="2377440"/>
            <a:ext cx="481568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Poner bajo «Entradas» la fecha del próximo evento, para que se vea sin abrir el panel.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Medir cuánta gente pulsa «Zarpar» y cuánta «Entradas» en las primeras semanas.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Vigilar el peso antes de añadir más: la página ya está en 195 de los 200 kB que nos pusimos de tope.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4E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4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LANDING  ·  PRÓXIMO EVENTO Y FOTOS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Próximo evento, eventos y fotos</a:t>
            </a:r>
            <a:endParaRPr lang="en-US" sz="2800" dirty="0"/>
          </a:p>
        </p:txBody>
      </p:sp>
      <p:sp>
        <p:nvSpPr>
          <p:cNvPr id="4" name="Teléfono"/>
          <p:cNvSpPr/>
          <p:nvPr/>
        </p:nvSpPr>
        <p:spPr>
          <a:xfrm>
            <a:off x="2366569" y="1371600"/>
            <a:ext cx="1973024" cy="4352544"/>
          </a:xfrm>
          <a:prstGeom prst="roundRect">
            <a:avLst>
              <a:gd name="adj" fmla="val 12977"/>
            </a:avLst>
          </a:prstGeom>
          <a:solidFill>
            <a:srgbClr val="05080F"/>
          </a:solidFill>
          <a:ln w="15875">
            <a:solidFill>
              <a:srgbClr val="2F4A72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078761" y="1453896"/>
            <a:ext cx="548640" cy="64008"/>
          </a:xfrm>
          <a:prstGeom prst="roundRect">
            <a:avLst>
              <a:gd name="adj" fmla="val 50000"/>
            </a:avLst>
          </a:prstGeom>
          <a:solidFill>
            <a:srgbClr val="2F4A72"/>
          </a:solidFill>
          <a:ln w="12700">
            <a:solidFill>
              <a:srgbClr val="2F4A72"/>
            </a:solidFill>
            <a:prstDash val="solid"/>
          </a:ln>
        </p:spPr>
      </p:sp>
      <p:pic>
        <p:nvPicPr>
          <p:cNvPr id="6" name="Image 0" descr="Captura de la we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8865" y="1591056"/>
            <a:ext cx="1808432" cy="3913632"/>
          </a:xfrm>
          <a:prstGeom prst="rect">
            <a:avLst/>
          </a:prstGeom>
        </p:spPr>
      </p:pic>
      <p:sp>
        <p:nvSpPr>
          <p:cNvPr id="7" name="Pie"/>
          <p:cNvSpPr txBox="1"/>
          <p:nvPr/>
        </p:nvSpPr>
        <p:spPr>
          <a:xfrm>
            <a:off x="2118858" y="5815584"/>
            <a:ext cx="2468447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 evento: Halloween, 31 de octubre</a:t>
            </a:r>
            <a:endParaRPr lang="en-US" sz="1200" dirty="0"/>
          </a:p>
        </p:txBody>
      </p:sp>
      <p:sp>
        <p:nvSpPr>
          <p:cNvPr id="8" name="Teléfono"/>
          <p:cNvSpPr/>
          <p:nvPr/>
        </p:nvSpPr>
        <p:spPr>
          <a:xfrm>
            <a:off x="5109336" y="1371600"/>
            <a:ext cx="1973024" cy="4352544"/>
          </a:xfrm>
          <a:prstGeom prst="roundRect">
            <a:avLst>
              <a:gd name="adj" fmla="val 12977"/>
            </a:avLst>
          </a:prstGeom>
          <a:solidFill>
            <a:srgbClr val="05080F"/>
          </a:solidFill>
          <a:ln w="15875">
            <a:solidFill>
              <a:srgbClr val="2F4A72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21528" y="1453896"/>
            <a:ext cx="548640" cy="64008"/>
          </a:xfrm>
          <a:prstGeom prst="roundRect">
            <a:avLst>
              <a:gd name="adj" fmla="val 50000"/>
            </a:avLst>
          </a:prstGeom>
          <a:solidFill>
            <a:srgbClr val="2F4A72"/>
          </a:solidFill>
          <a:ln w="12700">
            <a:solidFill>
              <a:srgbClr val="2F4A72"/>
            </a:solidFill>
            <a:prstDash val="solid"/>
          </a:ln>
        </p:spPr>
      </p:sp>
      <p:pic>
        <p:nvPicPr>
          <p:cNvPr id="10" name="Image 1" descr="Captura de la we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1632" y="1591056"/>
            <a:ext cx="1808432" cy="3913632"/>
          </a:xfrm>
          <a:prstGeom prst="rect">
            <a:avLst/>
          </a:prstGeom>
        </p:spPr>
      </p:pic>
      <p:sp>
        <p:nvSpPr>
          <p:cNvPr id="11" name="Pie"/>
          <p:cNvSpPr txBox="1"/>
          <p:nvPr/>
        </p:nvSpPr>
        <p:spPr>
          <a:xfrm>
            <a:off x="4861624" y="5815584"/>
            <a:ext cx="2468447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demás eventos a la venta</a:t>
            </a:r>
            <a:endParaRPr lang="en-US" sz="1200" dirty="0"/>
          </a:p>
        </p:txBody>
      </p:sp>
      <p:sp>
        <p:nvSpPr>
          <p:cNvPr id="12" name="Teléfono"/>
          <p:cNvSpPr/>
          <p:nvPr/>
        </p:nvSpPr>
        <p:spPr>
          <a:xfrm>
            <a:off x="7852102" y="1371600"/>
            <a:ext cx="1973024" cy="4352544"/>
          </a:xfrm>
          <a:prstGeom prst="roundRect">
            <a:avLst>
              <a:gd name="adj" fmla="val 12977"/>
            </a:avLst>
          </a:prstGeom>
          <a:solidFill>
            <a:srgbClr val="05080F"/>
          </a:solidFill>
          <a:ln w="15875">
            <a:solidFill>
              <a:srgbClr val="2F4A72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564294" y="1453896"/>
            <a:ext cx="548640" cy="64008"/>
          </a:xfrm>
          <a:prstGeom prst="roundRect">
            <a:avLst>
              <a:gd name="adj" fmla="val 50000"/>
            </a:avLst>
          </a:prstGeom>
          <a:solidFill>
            <a:srgbClr val="2F4A72"/>
          </a:solidFill>
          <a:ln w="12700">
            <a:solidFill>
              <a:srgbClr val="2F4A72"/>
            </a:solidFill>
            <a:prstDash val="solid"/>
          </a:ln>
        </p:spPr>
      </p:sp>
      <p:pic>
        <p:nvPicPr>
          <p:cNvPr id="14" name="Image 2" descr="Captura de la web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4398" y="1591056"/>
            <a:ext cx="1808432" cy="3913632"/>
          </a:xfrm>
          <a:prstGeom prst="rect">
            <a:avLst/>
          </a:prstGeom>
        </p:spPr>
      </p:pic>
      <p:sp>
        <p:nvSpPr>
          <p:cNvPr id="15" name="Pie"/>
          <p:cNvSpPr txBox="1"/>
          <p:nvPr/>
        </p:nvSpPr>
        <p:spPr>
          <a:xfrm>
            <a:off x="7604391" y="5815584"/>
            <a:ext cx="2468447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Fotos: una selección de la última vez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4E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548640" y="4114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4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LANDING  ·  ARTISTAS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6035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Artistas: las personas detrás del sonido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60350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26 artistas de BOIA, de tres en tres: la lista va rotando sola cada 5 segundos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uno con sus géneros y, si lo tiene, su enlace a Spotify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Botón para pausar la rotación y «Ver todos los artistas», que abre su página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«Escúchalo en Spotify»: la lista de BOIA, un enlace normal sin reproductor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 los enlaces son de prueba y llevan la etiqueta «MUESTRA»</a:t>
            </a:r>
            <a:endParaRPr lang="en-US" sz="1500" dirty="0"/>
          </a:p>
        </p:txBody>
      </p:sp>
      <p:sp>
        <p:nvSpPr>
          <p:cNvPr id="5" name="Teléfono"/>
          <p:cNvSpPr/>
          <p:nvPr/>
        </p:nvSpPr>
        <p:spPr>
          <a:xfrm>
            <a:off x="7984387" y="411480"/>
            <a:ext cx="2623721" cy="5760720"/>
          </a:xfrm>
          <a:prstGeom prst="roundRect">
            <a:avLst>
              <a:gd name="adj" fmla="val 9758"/>
            </a:avLst>
          </a:prstGeom>
          <a:solidFill>
            <a:srgbClr val="05080F"/>
          </a:solidFill>
          <a:ln w="15875">
            <a:solidFill>
              <a:srgbClr val="2F4A72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021928" y="493776"/>
            <a:ext cx="548640" cy="64008"/>
          </a:xfrm>
          <a:prstGeom prst="roundRect">
            <a:avLst>
              <a:gd name="adj" fmla="val 50000"/>
            </a:avLst>
          </a:prstGeom>
          <a:solidFill>
            <a:srgbClr val="2F4A72"/>
          </a:solidFill>
          <a:ln w="12700">
            <a:solidFill>
              <a:srgbClr val="2F4A72"/>
            </a:solidFill>
            <a:prstDash val="solid"/>
          </a:ln>
        </p:spPr>
      </p:sp>
      <p:pic>
        <p:nvPicPr>
          <p:cNvPr id="7" name="Image 0" descr="Captura de la we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6683" y="630936"/>
            <a:ext cx="2459129" cy="53218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4E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548640" y="4114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4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LANDING  ·  FILOSOFÍA Y CONTACTO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6035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Filosofía y contacto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6035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Filosofía va dentro de «Contacto»: dos párrafos y tres verbos, «Dar espacio», «Descubrir» y «Pertenecer».</a:t>
            </a:r>
            <a:endParaRPr lang="en-US" sz="160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texto es una versión corta del documento de Álvaro, escrita por el equipo. Está de muestra hasta que él lo lea.</a:t>
            </a:r>
            <a:endParaRPr lang="en-US" sz="160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Debajo, los datos de contacto: el correo y el WhatsApp de BOIA, hoy de prueba.</a:t>
            </a:r>
            <a:endParaRPr lang="en-US" sz="1600" dirty="0"/>
          </a:p>
        </p:txBody>
      </p:sp>
      <p:sp>
        <p:nvSpPr>
          <p:cNvPr id="5" name="Destacado"/>
          <p:cNvSpPr txBox="1"/>
          <p:nvPr/>
        </p:nvSpPr>
        <p:spPr>
          <a:xfrm>
            <a:off x="548640" y="4937760"/>
            <a:ext cx="6035040" cy="1051560"/>
          </a:xfrm>
          <a:prstGeom prst="roundRect">
            <a:avLst>
              <a:gd name="adj" fmla="val 10435"/>
            </a:avLst>
          </a:prstGeom>
          <a:solidFill>
            <a:srgbClr val="1A3052"/>
          </a:solidFill>
          <a:ln w="12700">
            <a:solidFill>
              <a:srgbClr val="2F4A72"/>
            </a:solidFill>
          </a:ln>
        </p:spPr>
        <p:txBody>
          <a:bodyPr wrap="square" lIns="127000" tIns="203200" rIns="203200" bIns="12700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Álvaro lo aprueba tal cual o lo cambia: es la voz de BOIA en la web.</a:t>
            </a:r>
            <a:endParaRPr lang="en-US" sz="1700" dirty="0"/>
          </a:p>
        </p:txBody>
      </p:sp>
      <p:sp>
        <p:nvSpPr>
          <p:cNvPr id="6" name="Teléfono"/>
          <p:cNvSpPr/>
          <p:nvPr/>
        </p:nvSpPr>
        <p:spPr>
          <a:xfrm>
            <a:off x="7984387" y="411480"/>
            <a:ext cx="2623721" cy="5760720"/>
          </a:xfrm>
          <a:prstGeom prst="roundRect">
            <a:avLst>
              <a:gd name="adj" fmla="val 9758"/>
            </a:avLst>
          </a:prstGeom>
          <a:solidFill>
            <a:srgbClr val="05080F"/>
          </a:solidFill>
          <a:ln w="15875">
            <a:solidFill>
              <a:srgbClr val="2F4A72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021928" y="493776"/>
            <a:ext cx="548640" cy="64008"/>
          </a:xfrm>
          <a:prstGeom prst="roundRect">
            <a:avLst>
              <a:gd name="adj" fmla="val 50000"/>
            </a:avLst>
          </a:prstGeom>
          <a:solidFill>
            <a:srgbClr val="2F4A72"/>
          </a:solidFill>
          <a:ln w="12700">
            <a:solidFill>
              <a:srgbClr val="2F4A72"/>
            </a:solidFill>
            <a:prstDash val="solid"/>
          </a:ln>
        </p:spPr>
      </p:sp>
      <p:pic>
        <p:nvPicPr>
          <p:cNvPr id="8" name="Image 0" descr="Captura de la we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6683" y="630936"/>
            <a:ext cx="2459129" cy="53218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4E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4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LANDING  ·  TIENDA, PIE Y CABECERA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Tienda, pie y cabecera</a:t>
            </a:r>
            <a:endParaRPr lang="en-US" sz="2800" dirty="0"/>
          </a:p>
        </p:txBody>
      </p:sp>
      <p:sp>
        <p:nvSpPr>
          <p:cNvPr id="4" name="Teléfono"/>
          <p:cNvSpPr/>
          <p:nvPr/>
        </p:nvSpPr>
        <p:spPr>
          <a:xfrm>
            <a:off x="2366569" y="1371600"/>
            <a:ext cx="1973024" cy="4352544"/>
          </a:xfrm>
          <a:prstGeom prst="roundRect">
            <a:avLst>
              <a:gd name="adj" fmla="val 12977"/>
            </a:avLst>
          </a:prstGeom>
          <a:solidFill>
            <a:srgbClr val="05080F"/>
          </a:solidFill>
          <a:ln w="15875">
            <a:solidFill>
              <a:srgbClr val="2F4A72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078761" y="1453896"/>
            <a:ext cx="548640" cy="64008"/>
          </a:xfrm>
          <a:prstGeom prst="roundRect">
            <a:avLst>
              <a:gd name="adj" fmla="val 50000"/>
            </a:avLst>
          </a:prstGeom>
          <a:solidFill>
            <a:srgbClr val="2F4A72"/>
          </a:solidFill>
          <a:ln w="12700">
            <a:solidFill>
              <a:srgbClr val="2F4A72"/>
            </a:solidFill>
            <a:prstDash val="solid"/>
          </a:ln>
        </p:spPr>
      </p:sp>
      <p:pic>
        <p:nvPicPr>
          <p:cNvPr id="6" name="Image 0" descr="Captura de la we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8865" y="1591056"/>
            <a:ext cx="1808432" cy="3913632"/>
          </a:xfrm>
          <a:prstGeom prst="rect">
            <a:avLst/>
          </a:prstGeom>
        </p:spPr>
      </p:pic>
      <p:sp>
        <p:nvSpPr>
          <p:cNvPr id="7" name="Pie"/>
          <p:cNvSpPr txBox="1"/>
          <p:nvPr/>
        </p:nvSpPr>
        <p:spPr>
          <a:xfrm>
            <a:off x="2118858" y="5815584"/>
            <a:ext cx="2468447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Tienda: sólo se vende en la fiesta</a:t>
            </a:r>
            <a:endParaRPr lang="en-US" sz="1200" dirty="0"/>
          </a:p>
        </p:txBody>
      </p:sp>
      <p:sp>
        <p:nvSpPr>
          <p:cNvPr id="8" name="Teléfono"/>
          <p:cNvSpPr/>
          <p:nvPr/>
        </p:nvSpPr>
        <p:spPr>
          <a:xfrm>
            <a:off x="5109336" y="1371600"/>
            <a:ext cx="1973024" cy="4352544"/>
          </a:xfrm>
          <a:prstGeom prst="roundRect">
            <a:avLst>
              <a:gd name="adj" fmla="val 12977"/>
            </a:avLst>
          </a:prstGeom>
          <a:solidFill>
            <a:srgbClr val="05080F"/>
          </a:solidFill>
          <a:ln w="15875">
            <a:solidFill>
              <a:srgbClr val="2F4A72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21528" y="1453896"/>
            <a:ext cx="548640" cy="64008"/>
          </a:xfrm>
          <a:prstGeom prst="roundRect">
            <a:avLst>
              <a:gd name="adj" fmla="val 50000"/>
            </a:avLst>
          </a:prstGeom>
          <a:solidFill>
            <a:srgbClr val="2F4A72"/>
          </a:solidFill>
          <a:ln w="12700">
            <a:solidFill>
              <a:srgbClr val="2F4A72"/>
            </a:solidFill>
            <a:prstDash val="solid"/>
          </a:ln>
        </p:spPr>
      </p:sp>
      <p:pic>
        <p:nvPicPr>
          <p:cNvPr id="10" name="Image 1" descr="Captura de la we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1632" y="1591056"/>
            <a:ext cx="1808432" cy="3913632"/>
          </a:xfrm>
          <a:prstGeom prst="rect">
            <a:avLst/>
          </a:prstGeom>
        </p:spPr>
      </p:pic>
      <p:sp>
        <p:nvSpPr>
          <p:cNvPr id="11" name="Pie"/>
          <p:cNvSpPr txBox="1"/>
          <p:nvPr/>
        </p:nvSpPr>
        <p:spPr>
          <a:xfrm>
            <a:off x="4861624" y="5815584"/>
            <a:ext cx="2468447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Pie: Carnet, WhatsApp, redes y legales</a:t>
            </a:r>
            <a:endParaRPr lang="en-US" sz="1200" dirty="0"/>
          </a:p>
        </p:txBody>
      </p:sp>
      <p:sp>
        <p:nvSpPr>
          <p:cNvPr id="12" name="Teléfono"/>
          <p:cNvSpPr/>
          <p:nvPr/>
        </p:nvSpPr>
        <p:spPr>
          <a:xfrm>
            <a:off x="7852102" y="1371600"/>
            <a:ext cx="1973024" cy="4352544"/>
          </a:xfrm>
          <a:prstGeom prst="roundRect">
            <a:avLst>
              <a:gd name="adj" fmla="val 12977"/>
            </a:avLst>
          </a:prstGeom>
          <a:solidFill>
            <a:srgbClr val="05080F"/>
          </a:solidFill>
          <a:ln w="15875">
            <a:solidFill>
              <a:srgbClr val="2F4A72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564294" y="1453896"/>
            <a:ext cx="548640" cy="64008"/>
          </a:xfrm>
          <a:prstGeom prst="roundRect">
            <a:avLst>
              <a:gd name="adj" fmla="val 50000"/>
            </a:avLst>
          </a:prstGeom>
          <a:solidFill>
            <a:srgbClr val="2F4A72"/>
          </a:solidFill>
          <a:ln w="12700">
            <a:solidFill>
              <a:srgbClr val="2F4A72"/>
            </a:solidFill>
            <a:prstDash val="solid"/>
          </a:ln>
        </p:spPr>
      </p:sp>
      <p:pic>
        <p:nvPicPr>
          <p:cNvPr id="14" name="Image 2" descr="Captura de la web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4398" y="1591056"/>
            <a:ext cx="1808432" cy="3913632"/>
          </a:xfrm>
          <a:prstGeom prst="rect">
            <a:avLst/>
          </a:prstGeom>
        </p:spPr>
      </p:pic>
      <p:sp>
        <p:nvSpPr>
          <p:cNvPr id="15" name="Pie"/>
          <p:cNvSpPr txBox="1"/>
          <p:nvPr/>
        </p:nvSpPr>
        <p:spPr>
          <a:xfrm>
            <a:off x="7604391" y="5815584"/>
            <a:ext cx="2468447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Menú: Carnet, Ranking, Sonido…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4E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4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LANDING  ·  SECCIONES DE LA LANDING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Qué falta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necesarios para salir   ·   1 puede esperar</a:t>
            </a:r>
            <a:endParaRPr lang="en-US" sz="1300" dirty="0"/>
          </a:p>
        </p:txBody>
      </p:sp>
      <p:sp>
        <p:nvSpPr>
          <p:cNvPr id="5" name="Fila"/>
          <p:cNvSpPr/>
          <p:nvPr/>
        </p:nvSpPr>
        <p:spPr>
          <a:xfrm>
            <a:off x="548640" y="1737360"/>
            <a:ext cx="11094415" cy="640080"/>
          </a:xfrm>
          <a:prstGeom prst="roundRect">
            <a:avLst>
              <a:gd name="adj" fmla="val 14286"/>
            </a:avLst>
          </a:prstGeom>
          <a:solidFill>
            <a:srgbClr val="1A3052"/>
          </a:solidFill>
          <a:ln w="12700">
            <a:solidFill>
              <a:srgbClr val="1A3052"/>
            </a:solidFill>
            <a:prstDash val="solid"/>
          </a:ln>
        </p:spPr>
      </p:sp>
      <p:sp>
        <p:nvSpPr>
          <p:cNvPr id="6" name="Necesario para salir"/>
          <p:cNvSpPr txBox="1"/>
          <p:nvPr/>
        </p:nvSpPr>
        <p:spPr>
          <a:xfrm>
            <a:off x="731520" y="1883664"/>
            <a:ext cx="2148840" cy="347472"/>
          </a:xfrm>
          <a:prstGeom prst="roundRect">
            <a:avLst>
              <a:gd name="adj" fmla="val 50000"/>
            </a:avLst>
          </a:prstGeom>
          <a:solidFill>
            <a:srgbClr val="EC4F24"/>
          </a:solidFill>
          <a:ln w="19050">
            <a:solidFill>
              <a:srgbClr val="EC4F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Necesario para salir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154680" y="1737360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enlace real de cada artista (Spotify u otro) y la lista de BOIA en Spotify</a:t>
            </a:r>
            <a:endParaRPr lang="en-US" sz="1500" dirty="0"/>
          </a:p>
        </p:txBody>
      </p:sp>
      <p:sp>
        <p:nvSpPr>
          <p:cNvPr id="8" name="Quién"/>
          <p:cNvSpPr txBox="1"/>
          <p:nvPr/>
        </p:nvSpPr>
        <p:spPr>
          <a:xfrm>
            <a:off x="9905695" y="17373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Álvaro</a:t>
            </a:r>
            <a:endParaRPr lang="en-US" sz="1200" dirty="0"/>
          </a:p>
        </p:txBody>
      </p:sp>
      <p:sp>
        <p:nvSpPr>
          <p:cNvPr id="9" name="Fila"/>
          <p:cNvSpPr/>
          <p:nvPr/>
        </p:nvSpPr>
        <p:spPr>
          <a:xfrm>
            <a:off x="548640" y="2505456"/>
            <a:ext cx="11094415" cy="640080"/>
          </a:xfrm>
          <a:prstGeom prst="roundRect">
            <a:avLst>
              <a:gd name="adj" fmla="val 14286"/>
            </a:avLst>
          </a:prstGeom>
          <a:solidFill>
            <a:srgbClr val="1A3052"/>
          </a:solidFill>
          <a:ln w="12700">
            <a:solidFill>
              <a:srgbClr val="1A3052"/>
            </a:solidFill>
            <a:prstDash val="solid"/>
          </a:ln>
        </p:spPr>
      </p:sp>
      <p:sp>
        <p:nvSpPr>
          <p:cNvPr id="10" name="Necesario para salir"/>
          <p:cNvSpPr txBox="1"/>
          <p:nvPr/>
        </p:nvSpPr>
        <p:spPr>
          <a:xfrm>
            <a:off x="731520" y="2651760"/>
            <a:ext cx="2148840" cy="347472"/>
          </a:xfrm>
          <a:prstGeom prst="roundRect">
            <a:avLst>
              <a:gd name="adj" fmla="val 50000"/>
            </a:avLst>
          </a:prstGeom>
          <a:solidFill>
            <a:srgbClr val="EC4F24"/>
          </a:solidFill>
          <a:ln w="19050">
            <a:solidFill>
              <a:srgbClr val="EC4F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Necesario para salir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154680" y="2505456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Aprobar el texto de la Filosofía tal cual, o cambiarlo</a:t>
            </a:r>
            <a:endParaRPr lang="en-US" sz="1500" dirty="0"/>
          </a:p>
        </p:txBody>
      </p:sp>
      <p:sp>
        <p:nvSpPr>
          <p:cNvPr id="12" name="Quién"/>
          <p:cNvSpPr txBox="1"/>
          <p:nvPr/>
        </p:nvSpPr>
        <p:spPr>
          <a:xfrm>
            <a:off x="9905695" y="2505456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Álvaro</a:t>
            </a:r>
            <a:endParaRPr lang="en-US" sz="1200" dirty="0"/>
          </a:p>
        </p:txBody>
      </p:sp>
      <p:sp>
        <p:nvSpPr>
          <p:cNvPr id="13" name="Fila"/>
          <p:cNvSpPr/>
          <p:nvPr/>
        </p:nvSpPr>
        <p:spPr>
          <a:xfrm>
            <a:off x="548640" y="3273552"/>
            <a:ext cx="11094415" cy="640080"/>
          </a:xfrm>
          <a:prstGeom prst="roundRect">
            <a:avLst>
              <a:gd name="adj" fmla="val 14286"/>
            </a:avLst>
          </a:prstGeom>
          <a:solidFill>
            <a:srgbClr val="1A3052"/>
          </a:solidFill>
          <a:ln w="12700">
            <a:solidFill>
              <a:srgbClr val="1A3052"/>
            </a:solidFill>
            <a:prstDash val="solid"/>
          </a:ln>
        </p:spPr>
      </p:sp>
      <p:sp>
        <p:nvSpPr>
          <p:cNvPr id="14" name="Necesario para salir"/>
          <p:cNvSpPr txBox="1"/>
          <p:nvPr/>
        </p:nvSpPr>
        <p:spPr>
          <a:xfrm>
            <a:off x="731520" y="3419856"/>
            <a:ext cx="2148840" cy="347472"/>
          </a:xfrm>
          <a:prstGeom prst="roundRect">
            <a:avLst>
              <a:gd name="adj" fmla="val 50000"/>
            </a:avLst>
          </a:prstGeom>
          <a:solidFill>
            <a:srgbClr val="EC4F24"/>
          </a:solidFill>
          <a:ln w="19050">
            <a:solidFill>
              <a:srgbClr val="EC4F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Necesario para salir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154680" y="3273552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Fotos de los productos reales de la tienda (sola, otro ángulo y puesta)</a:t>
            </a:r>
            <a:endParaRPr lang="en-US" sz="1500" dirty="0"/>
          </a:p>
        </p:txBody>
      </p:sp>
      <p:sp>
        <p:nvSpPr>
          <p:cNvPr id="16" name="Quién"/>
          <p:cNvSpPr txBox="1"/>
          <p:nvPr/>
        </p:nvSpPr>
        <p:spPr>
          <a:xfrm>
            <a:off x="9905695" y="327355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Álvaro y socios</a:t>
            </a:r>
            <a:endParaRPr lang="en-US" sz="1200" dirty="0"/>
          </a:p>
        </p:txBody>
      </p:sp>
      <p:sp>
        <p:nvSpPr>
          <p:cNvPr id="17" name="Fila"/>
          <p:cNvSpPr/>
          <p:nvPr/>
        </p:nvSpPr>
        <p:spPr>
          <a:xfrm>
            <a:off x="548640" y="4041648"/>
            <a:ext cx="11094415" cy="640080"/>
          </a:xfrm>
          <a:prstGeom prst="roundRect">
            <a:avLst>
              <a:gd name="adj" fmla="val 14286"/>
            </a:avLst>
          </a:prstGeom>
          <a:solidFill>
            <a:srgbClr val="1A3052"/>
          </a:solidFill>
          <a:ln w="12700">
            <a:solidFill>
              <a:srgbClr val="1A3052"/>
            </a:solidFill>
            <a:prstDash val="solid"/>
          </a:ln>
        </p:spPr>
      </p:sp>
      <p:sp>
        <p:nvSpPr>
          <p:cNvPr id="18" name="Necesario para salir"/>
          <p:cNvSpPr txBox="1"/>
          <p:nvPr/>
        </p:nvSpPr>
        <p:spPr>
          <a:xfrm>
            <a:off x="731520" y="4187952"/>
            <a:ext cx="2148840" cy="347472"/>
          </a:xfrm>
          <a:prstGeom prst="roundRect">
            <a:avLst>
              <a:gd name="adj" fmla="val 50000"/>
            </a:avLst>
          </a:prstGeom>
          <a:solidFill>
            <a:srgbClr val="EC4F24"/>
          </a:solidFill>
          <a:ln w="19050">
            <a:solidFill>
              <a:srgbClr val="EC4F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Necesario para salir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154680" y="4041648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Enlaces reales: correo de contacto, WhatsApp, Instagram y TikTok</a:t>
            </a:r>
            <a:endParaRPr lang="en-US" sz="1500" dirty="0"/>
          </a:p>
        </p:txBody>
      </p:sp>
      <p:sp>
        <p:nvSpPr>
          <p:cNvPr id="20" name="Quién"/>
          <p:cNvSpPr txBox="1"/>
          <p:nvPr/>
        </p:nvSpPr>
        <p:spPr>
          <a:xfrm>
            <a:off x="9905695" y="404164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Álvaro</a:t>
            </a:r>
            <a:endParaRPr lang="en-US" sz="1200" dirty="0"/>
          </a:p>
        </p:txBody>
      </p:sp>
      <p:sp>
        <p:nvSpPr>
          <p:cNvPr id="21" name="Fila"/>
          <p:cNvSpPr/>
          <p:nvPr/>
        </p:nvSpPr>
        <p:spPr>
          <a:xfrm>
            <a:off x="548640" y="4809744"/>
            <a:ext cx="11094415" cy="640080"/>
          </a:xfrm>
          <a:prstGeom prst="roundRect">
            <a:avLst>
              <a:gd name="adj" fmla="val 14286"/>
            </a:avLst>
          </a:prstGeom>
          <a:solidFill>
            <a:srgbClr val="1A3052"/>
          </a:solidFill>
          <a:ln w="12700">
            <a:solidFill>
              <a:srgbClr val="1A3052"/>
            </a:solidFill>
            <a:prstDash val="solid"/>
          </a:ln>
        </p:spPr>
      </p:sp>
      <p:sp>
        <p:nvSpPr>
          <p:cNvPr id="22" name="Necesario para salir"/>
          <p:cNvSpPr txBox="1"/>
          <p:nvPr/>
        </p:nvSpPr>
        <p:spPr>
          <a:xfrm>
            <a:off x="731520" y="4956048"/>
            <a:ext cx="2148840" cy="347472"/>
          </a:xfrm>
          <a:prstGeom prst="roundRect">
            <a:avLst>
              <a:gd name="adj" fmla="val 50000"/>
            </a:avLst>
          </a:prstGeom>
          <a:solidFill>
            <a:srgbClr val="EC4F24"/>
          </a:solidFill>
          <a:ln w="19050">
            <a:solidFill>
              <a:srgbClr val="EC4F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Necesario para salir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154680" y="4809744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cartel de BOIA Halloween (y luego los de Sonido y Nochevieja)</a:t>
            </a:r>
            <a:endParaRPr lang="en-US" sz="1500" dirty="0"/>
          </a:p>
        </p:txBody>
      </p:sp>
      <p:sp>
        <p:nvSpPr>
          <p:cNvPr id="24" name="Quién"/>
          <p:cNvSpPr txBox="1"/>
          <p:nvPr/>
        </p:nvSpPr>
        <p:spPr>
          <a:xfrm>
            <a:off x="9905695" y="4809744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Álvaro</a:t>
            </a:r>
            <a:endParaRPr lang="en-US" sz="1200" dirty="0"/>
          </a:p>
        </p:txBody>
      </p:sp>
      <p:sp>
        <p:nvSpPr>
          <p:cNvPr id="25" name="Fila"/>
          <p:cNvSpPr/>
          <p:nvPr/>
        </p:nvSpPr>
        <p:spPr>
          <a:xfrm>
            <a:off x="548640" y="5577840"/>
            <a:ext cx="11094415" cy="640080"/>
          </a:xfrm>
          <a:prstGeom prst="roundRect">
            <a:avLst>
              <a:gd name="adj" fmla="val 14286"/>
            </a:avLst>
          </a:prstGeom>
          <a:solidFill>
            <a:srgbClr val="1A3052"/>
          </a:solidFill>
          <a:ln w="12700">
            <a:solidFill>
              <a:srgbClr val="1A3052"/>
            </a:solidFill>
            <a:prstDash val="solid"/>
          </a:ln>
        </p:spPr>
      </p:sp>
      <p:sp>
        <p:nvSpPr>
          <p:cNvPr id="26" name="Puede esperar"/>
          <p:cNvSpPr txBox="1"/>
          <p:nvPr/>
        </p:nvSpPr>
        <p:spPr>
          <a:xfrm>
            <a:off x="731520" y="5724144"/>
            <a:ext cx="2148840" cy="347472"/>
          </a:xfrm>
          <a:prstGeom prst="roundRect">
            <a:avLst>
              <a:gd name="adj" fmla="val 50000"/>
            </a:avLst>
          </a:prstGeom>
          <a:solidFill>
            <a:srgbClr val="0B1830"/>
          </a:solidFill>
          <a:ln w="19050">
            <a:solidFill>
              <a:srgbClr val="B9A6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Puede esperar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3154680" y="5577840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Fotos de los 26 artistas y fotos reales de las fiestas pasadas</a:t>
            </a:r>
            <a:endParaRPr lang="en-US" sz="1500" dirty="0"/>
          </a:p>
        </p:txBody>
      </p:sp>
      <p:sp>
        <p:nvSpPr>
          <p:cNvPr id="28" name="Quién"/>
          <p:cNvSpPr txBox="1"/>
          <p:nvPr/>
        </p:nvSpPr>
        <p:spPr>
          <a:xfrm>
            <a:off x="9905695" y="55778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Álvaro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4E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4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LANDING  ·  SECCIONES DE LA LANDING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Preguntas y propuestas</a:t>
            </a:r>
            <a:endParaRPr lang="en-US" sz="2800" dirty="0"/>
          </a:p>
        </p:txBody>
      </p:sp>
      <p:sp>
        <p:nvSpPr>
          <p:cNvPr id="4" name="Preguntas"/>
          <p:cNvSpPr/>
          <p:nvPr/>
        </p:nvSpPr>
        <p:spPr>
          <a:xfrm>
            <a:off x="548640" y="1417320"/>
            <a:ext cx="5364328" cy="4800600"/>
          </a:xfrm>
          <a:prstGeom prst="roundRect">
            <a:avLst>
              <a:gd name="adj" fmla="val 2667"/>
            </a:avLst>
          </a:prstGeom>
          <a:solidFill>
            <a:srgbClr val="1A3052"/>
          </a:solidFill>
          <a:ln w="12700">
            <a:solidFill>
              <a:srgbClr val="2F4A7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457200" cy="457200"/>
          </a:xfrm>
          <a:prstGeom prst="ellipse">
            <a:avLst/>
          </a:prstGeom>
          <a:solidFill>
            <a:srgbClr val="EC4F24"/>
          </a:solidFill>
          <a:ln>
            <a:solidFill>
              <a:srgbClr val="EC4F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9164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Preguntas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481568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¿Quién hace las fotos de los productos de la tienda, y para cuándo?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artistas no tienen Spotify? ¿Enlazamos a Instagram o SoundCloud en su lugar?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¿Dejamos «Probar admin» en el pie al publicar, o se quita?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¿El orden de las secciones os parece bien: evento, fotos, artistas, tienda, contacto?</a:t>
            </a:r>
            <a:endParaRPr lang="en-US" sz="1500" dirty="0"/>
          </a:p>
        </p:txBody>
      </p:sp>
      <p:sp>
        <p:nvSpPr>
          <p:cNvPr id="8" name="Propuestas"/>
          <p:cNvSpPr/>
          <p:nvPr/>
        </p:nvSpPr>
        <p:spPr>
          <a:xfrm>
            <a:off x="6278728" y="1417320"/>
            <a:ext cx="5364328" cy="4800600"/>
          </a:xfrm>
          <a:prstGeom prst="roundRect">
            <a:avLst>
              <a:gd name="adj" fmla="val 2667"/>
            </a:avLst>
          </a:prstGeom>
          <a:solidFill>
            <a:srgbClr val="1A3052"/>
          </a:solidFill>
          <a:ln w="12700">
            <a:solidFill>
              <a:srgbClr val="2F4A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53048" y="1691640"/>
            <a:ext cx="457200" cy="457200"/>
          </a:xfrm>
          <a:prstGeom prst="ellipse">
            <a:avLst/>
          </a:prstGeom>
          <a:solidFill>
            <a:srgbClr val="B9A6FF"/>
          </a:solidFill>
          <a:ln>
            <a:solidFill>
              <a:srgbClr val="B9A6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08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147408" y="169164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Propuestas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53048" y="2377440"/>
            <a:ext cx="481568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Dejar que cada artista tenga otro enlace además de Spotify (hoy sólo hay uno).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Poner un precio orientativo en la tienda, aunque se pague en la fiesta.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Subir cinco o seis fotos buenas de un All Day pasado: dan más ganas que los huecos.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4E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0" y="1325880"/>
            <a:ext cx="3749040" cy="3749040"/>
          </a:xfrm>
          <a:prstGeom prst="ellipse">
            <a:avLst/>
          </a:prstGeom>
          <a:solidFill>
            <a:srgbClr val="0B1830"/>
          </a:solidFill>
          <a:ln w="25400">
            <a:solidFill>
              <a:srgbClr val="2F4A72"/>
            </a:solidFill>
            <a:prstDash val="solid"/>
          </a:ln>
        </p:spPr>
      </p:sp>
      <p:pic>
        <p:nvPicPr>
          <p:cNvPr id="3" name="Image 0" descr="La mascota de BO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9616" y="1783080"/>
            <a:ext cx="2831808" cy="2834640"/>
          </a:xfrm>
          <a:prstGeom prst="rect">
            <a:avLst/>
          </a:prstGeom>
        </p:spPr>
      </p:pic>
      <p:sp>
        <p:nvSpPr>
          <p:cNvPr id="4" name="Número de parte"/>
          <p:cNvSpPr txBox="1"/>
          <p:nvPr/>
        </p:nvSpPr>
        <p:spPr>
          <a:xfrm>
            <a:off x="548640" y="64008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0" dirty="0">
                <a:solidFill>
                  <a:srgbClr val="EC4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2000" dirty="0"/>
          </a:p>
        </p:txBody>
      </p:sp>
      <p:sp>
        <p:nvSpPr>
          <p:cNvPr id="5" name="Título"/>
          <p:cNvSpPr txBox="1"/>
          <p:nvPr/>
        </p:nvSpPr>
        <p:spPr>
          <a:xfrm>
            <a:off x="548640" y="2606040"/>
            <a:ext cx="7315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Páginas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1148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Eventos, artistas, fotos, tienda y legales: las páginas que se abren por su enlace</a:t>
            </a:r>
            <a:endParaRPr lang="en-US" sz="1800" dirty="0"/>
          </a:p>
        </p:txBody>
      </p:sp>
      <p:sp>
        <p:nvSpPr>
          <p:cNvPr id="7" name="Secciones"/>
          <p:cNvSpPr txBox="1"/>
          <p:nvPr/>
        </p:nvSpPr>
        <p:spPr>
          <a:xfrm>
            <a:off x="548640" y="50292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9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Eventos   ·   Artistas   ·   Enlace de artistas   ·   Fotos   ·   Tienda   ·   Legales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4E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548640" y="4114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4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PÁGINAS  ·  EVENTOS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6035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ficha de cada evento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60350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página por evento, con su enlace propio para compartir: /eventos/halloween-2026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Cartel, fecha y hora, lugar, formato y precio; mientras no hay cartel, «Cartel próximamente»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Artistas del cartel, actividades (comida, mercadillo…) y descripción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«Comprar entradas» si está a la venta e «Ir a su isla», que lleva en barco a su isla del mar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ya pasó: sin compra, con sus recuerdos (fotos) y «Ver sus fotos»</a:t>
            </a:r>
            <a:endParaRPr lang="en-US" sz="1500" dirty="0"/>
          </a:p>
        </p:txBody>
      </p:sp>
      <p:sp>
        <p:nvSpPr>
          <p:cNvPr id="5" name="Teléfono"/>
          <p:cNvSpPr/>
          <p:nvPr/>
        </p:nvSpPr>
        <p:spPr>
          <a:xfrm>
            <a:off x="7984387" y="411480"/>
            <a:ext cx="2623721" cy="5760720"/>
          </a:xfrm>
          <a:prstGeom prst="roundRect">
            <a:avLst>
              <a:gd name="adj" fmla="val 9758"/>
            </a:avLst>
          </a:prstGeom>
          <a:solidFill>
            <a:srgbClr val="05080F"/>
          </a:solidFill>
          <a:ln w="15875">
            <a:solidFill>
              <a:srgbClr val="2F4A72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021928" y="493776"/>
            <a:ext cx="548640" cy="64008"/>
          </a:xfrm>
          <a:prstGeom prst="roundRect">
            <a:avLst>
              <a:gd name="adj" fmla="val 50000"/>
            </a:avLst>
          </a:prstGeom>
          <a:solidFill>
            <a:srgbClr val="2F4A72"/>
          </a:solidFill>
          <a:ln w="12700">
            <a:solidFill>
              <a:srgbClr val="2F4A72"/>
            </a:solidFill>
            <a:prstDash val="solid"/>
          </a:ln>
        </p:spPr>
      </p:sp>
      <p:pic>
        <p:nvPicPr>
          <p:cNvPr id="7" name="Image 0" descr="Captura de la we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6683" y="630936"/>
            <a:ext cx="2459129" cy="53218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4E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4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PÁGINAS  ·  EVENTOS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Taquilla, actividades y recuerdos</a:t>
            </a:r>
            <a:endParaRPr lang="en-US" sz="2800" dirty="0"/>
          </a:p>
        </p:txBody>
      </p:sp>
      <p:sp>
        <p:nvSpPr>
          <p:cNvPr id="4" name="Teléfono"/>
          <p:cNvSpPr/>
          <p:nvPr/>
        </p:nvSpPr>
        <p:spPr>
          <a:xfrm>
            <a:off x="2366569" y="1371600"/>
            <a:ext cx="1973024" cy="4352544"/>
          </a:xfrm>
          <a:prstGeom prst="roundRect">
            <a:avLst>
              <a:gd name="adj" fmla="val 12977"/>
            </a:avLst>
          </a:prstGeom>
          <a:solidFill>
            <a:srgbClr val="05080F"/>
          </a:solidFill>
          <a:ln w="15875">
            <a:solidFill>
              <a:srgbClr val="2F4A72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078761" y="1453896"/>
            <a:ext cx="548640" cy="64008"/>
          </a:xfrm>
          <a:prstGeom prst="roundRect">
            <a:avLst>
              <a:gd name="adj" fmla="val 50000"/>
            </a:avLst>
          </a:prstGeom>
          <a:solidFill>
            <a:srgbClr val="2F4A72"/>
          </a:solidFill>
          <a:ln w="12700">
            <a:solidFill>
              <a:srgbClr val="2F4A72"/>
            </a:solidFill>
            <a:prstDash val="solid"/>
          </a:ln>
        </p:spPr>
      </p:sp>
      <p:pic>
        <p:nvPicPr>
          <p:cNvPr id="6" name="Image 0" descr="Captura de la we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8865" y="1591056"/>
            <a:ext cx="1808432" cy="3913632"/>
          </a:xfrm>
          <a:prstGeom prst="rect">
            <a:avLst/>
          </a:prstGeom>
        </p:spPr>
      </p:pic>
      <p:sp>
        <p:nvSpPr>
          <p:cNvPr id="7" name="Pie"/>
          <p:cNvSpPr txBox="1"/>
          <p:nvPr/>
        </p:nvSpPr>
        <p:spPr>
          <a:xfrm>
            <a:off x="2118858" y="5815584"/>
            <a:ext cx="2468447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Halloween y SONIDO: sólo en taquilla, 2 € menos</a:t>
            </a:r>
            <a:endParaRPr lang="en-US" sz="1200" dirty="0"/>
          </a:p>
        </p:txBody>
      </p:sp>
      <p:sp>
        <p:nvSpPr>
          <p:cNvPr id="8" name="Teléfono"/>
          <p:cNvSpPr/>
          <p:nvPr/>
        </p:nvSpPr>
        <p:spPr>
          <a:xfrm>
            <a:off x="5109336" y="1371600"/>
            <a:ext cx="1973024" cy="4352544"/>
          </a:xfrm>
          <a:prstGeom prst="roundRect">
            <a:avLst>
              <a:gd name="adj" fmla="val 12977"/>
            </a:avLst>
          </a:prstGeom>
          <a:solidFill>
            <a:srgbClr val="05080F"/>
          </a:solidFill>
          <a:ln w="15875">
            <a:solidFill>
              <a:srgbClr val="2F4A72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21528" y="1453896"/>
            <a:ext cx="548640" cy="64008"/>
          </a:xfrm>
          <a:prstGeom prst="roundRect">
            <a:avLst>
              <a:gd name="adj" fmla="val 50000"/>
            </a:avLst>
          </a:prstGeom>
          <a:solidFill>
            <a:srgbClr val="2F4A72"/>
          </a:solidFill>
          <a:ln w="12700">
            <a:solidFill>
              <a:srgbClr val="2F4A72"/>
            </a:solidFill>
            <a:prstDash val="solid"/>
          </a:ln>
        </p:spPr>
      </p:sp>
      <p:pic>
        <p:nvPicPr>
          <p:cNvPr id="10" name="Image 1" descr="Captura de la we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1632" y="1591056"/>
            <a:ext cx="1808432" cy="3913632"/>
          </a:xfrm>
          <a:prstGeom prst="rect">
            <a:avLst/>
          </a:prstGeom>
        </p:spPr>
      </p:pic>
      <p:sp>
        <p:nvSpPr>
          <p:cNvPr id="11" name="Pie"/>
          <p:cNvSpPr txBox="1"/>
          <p:nvPr/>
        </p:nvSpPr>
        <p:spPr>
          <a:xfrm>
            <a:off x="4861624" y="5815584"/>
            <a:ext cx="2468447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SONIDO: cartel, actividades y compra</a:t>
            </a:r>
            <a:endParaRPr lang="en-US" sz="1200" dirty="0"/>
          </a:p>
        </p:txBody>
      </p:sp>
      <p:sp>
        <p:nvSpPr>
          <p:cNvPr id="12" name="Teléfono"/>
          <p:cNvSpPr/>
          <p:nvPr/>
        </p:nvSpPr>
        <p:spPr>
          <a:xfrm>
            <a:off x="7852102" y="1371600"/>
            <a:ext cx="1973024" cy="4352544"/>
          </a:xfrm>
          <a:prstGeom prst="roundRect">
            <a:avLst>
              <a:gd name="adj" fmla="val 12977"/>
            </a:avLst>
          </a:prstGeom>
          <a:solidFill>
            <a:srgbClr val="05080F"/>
          </a:solidFill>
          <a:ln w="15875">
            <a:solidFill>
              <a:srgbClr val="2F4A72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564294" y="1453896"/>
            <a:ext cx="548640" cy="64008"/>
          </a:xfrm>
          <a:prstGeom prst="roundRect">
            <a:avLst>
              <a:gd name="adj" fmla="val 50000"/>
            </a:avLst>
          </a:prstGeom>
          <a:solidFill>
            <a:srgbClr val="2F4A72"/>
          </a:solidFill>
          <a:ln w="12700">
            <a:solidFill>
              <a:srgbClr val="2F4A72"/>
            </a:solidFill>
            <a:prstDash val="solid"/>
          </a:ln>
        </p:spPr>
      </p:sp>
      <p:pic>
        <p:nvPicPr>
          <p:cNvPr id="14" name="Image 2" descr="Captura de la web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4398" y="1591056"/>
            <a:ext cx="1808432" cy="3913632"/>
          </a:xfrm>
          <a:prstGeom prst="rect">
            <a:avLst/>
          </a:prstGeom>
        </p:spPr>
      </p:pic>
      <p:sp>
        <p:nvSpPr>
          <p:cNvPr id="15" name="Pie"/>
          <p:cNvSpPr txBox="1"/>
          <p:nvPr/>
        </p:nvSpPr>
        <p:spPr>
          <a:xfrm>
            <a:off x="7604391" y="5815584"/>
            <a:ext cx="2468447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evento que ya pasó: sus recuerdos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4E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4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PÁGINAS  ·  ARTISTAS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Todos los artistas y su enlace</a:t>
            </a:r>
            <a:endParaRPr lang="en-US" sz="2800" dirty="0"/>
          </a:p>
        </p:txBody>
      </p:sp>
      <p:sp>
        <p:nvSpPr>
          <p:cNvPr id="4" name="Teléfono"/>
          <p:cNvSpPr/>
          <p:nvPr/>
        </p:nvSpPr>
        <p:spPr>
          <a:xfrm>
            <a:off x="3737952" y="1371600"/>
            <a:ext cx="1973024" cy="4352544"/>
          </a:xfrm>
          <a:prstGeom prst="roundRect">
            <a:avLst>
              <a:gd name="adj" fmla="val 12977"/>
            </a:avLst>
          </a:prstGeom>
          <a:solidFill>
            <a:srgbClr val="05080F"/>
          </a:solidFill>
          <a:ln w="15875">
            <a:solidFill>
              <a:srgbClr val="2F4A72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450144" y="1453896"/>
            <a:ext cx="548640" cy="64008"/>
          </a:xfrm>
          <a:prstGeom prst="roundRect">
            <a:avLst>
              <a:gd name="adj" fmla="val 50000"/>
            </a:avLst>
          </a:prstGeom>
          <a:solidFill>
            <a:srgbClr val="2F4A72"/>
          </a:solidFill>
          <a:ln w="12700">
            <a:solidFill>
              <a:srgbClr val="2F4A72"/>
            </a:solidFill>
            <a:prstDash val="solid"/>
          </a:ln>
        </p:spPr>
      </p:sp>
      <p:pic>
        <p:nvPicPr>
          <p:cNvPr id="6" name="Image 0" descr="Captura de la we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20248" y="1591056"/>
            <a:ext cx="1808432" cy="3913632"/>
          </a:xfrm>
          <a:prstGeom prst="rect">
            <a:avLst/>
          </a:prstGeom>
        </p:spPr>
      </p:pic>
      <p:sp>
        <p:nvSpPr>
          <p:cNvPr id="7" name="Pie"/>
          <p:cNvSpPr txBox="1"/>
          <p:nvPr/>
        </p:nvSpPr>
        <p:spPr>
          <a:xfrm>
            <a:off x="3490241" y="5815584"/>
            <a:ext cx="2468447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/artistas: los 26, de la A a la Z</a:t>
            </a:r>
            <a:endParaRPr lang="en-US" sz="1200" dirty="0"/>
          </a:p>
        </p:txBody>
      </p:sp>
      <p:sp>
        <p:nvSpPr>
          <p:cNvPr id="8" name="Teléfono"/>
          <p:cNvSpPr/>
          <p:nvPr/>
        </p:nvSpPr>
        <p:spPr>
          <a:xfrm>
            <a:off x="6480719" y="1371600"/>
            <a:ext cx="1973024" cy="4352544"/>
          </a:xfrm>
          <a:prstGeom prst="roundRect">
            <a:avLst>
              <a:gd name="adj" fmla="val 12977"/>
            </a:avLst>
          </a:prstGeom>
          <a:solidFill>
            <a:srgbClr val="05080F"/>
          </a:solidFill>
          <a:ln w="15875">
            <a:solidFill>
              <a:srgbClr val="2F4A72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192911" y="1453896"/>
            <a:ext cx="548640" cy="64008"/>
          </a:xfrm>
          <a:prstGeom prst="roundRect">
            <a:avLst>
              <a:gd name="adj" fmla="val 50000"/>
            </a:avLst>
          </a:prstGeom>
          <a:solidFill>
            <a:srgbClr val="2F4A72"/>
          </a:solidFill>
          <a:ln w="12700">
            <a:solidFill>
              <a:srgbClr val="2F4A72"/>
            </a:solidFill>
            <a:prstDash val="solid"/>
          </a:ln>
        </p:spPr>
      </p:sp>
      <p:pic>
        <p:nvPicPr>
          <p:cNvPr id="10" name="Image 1" descr="Captura de la we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015" y="1591056"/>
            <a:ext cx="1808432" cy="3913632"/>
          </a:xfrm>
          <a:prstGeom prst="rect">
            <a:avLst/>
          </a:prstGeom>
        </p:spPr>
      </p:pic>
      <p:sp>
        <p:nvSpPr>
          <p:cNvPr id="11" name="Pie"/>
          <p:cNvSpPr txBox="1"/>
          <p:nvPr/>
        </p:nvSpPr>
        <p:spPr>
          <a:xfrm>
            <a:off x="6233008" y="5815584"/>
            <a:ext cx="2468447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enlace de artistas abre su alta de Carnet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4E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4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PÁGINAS  ·  FOTOS Y TIENDA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Fotos y eventos, y la tienda</a:t>
            </a:r>
            <a:endParaRPr lang="en-US" sz="2800" dirty="0"/>
          </a:p>
        </p:txBody>
      </p:sp>
      <p:sp>
        <p:nvSpPr>
          <p:cNvPr id="4" name="Teléfono"/>
          <p:cNvSpPr/>
          <p:nvPr/>
        </p:nvSpPr>
        <p:spPr>
          <a:xfrm>
            <a:off x="2366569" y="1371600"/>
            <a:ext cx="1973024" cy="4352544"/>
          </a:xfrm>
          <a:prstGeom prst="roundRect">
            <a:avLst>
              <a:gd name="adj" fmla="val 12977"/>
            </a:avLst>
          </a:prstGeom>
          <a:solidFill>
            <a:srgbClr val="05080F"/>
          </a:solidFill>
          <a:ln w="15875">
            <a:solidFill>
              <a:srgbClr val="2F4A72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078761" y="1453896"/>
            <a:ext cx="548640" cy="64008"/>
          </a:xfrm>
          <a:prstGeom prst="roundRect">
            <a:avLst>
              <a:gd name="adj" fmla="val 50000"/>
            </a:avLst>
          </a:prstGeom>
          <a:solidFill>
            <a:srgbClr val="2F4A72"/>
          </a:solidFill>
          <a:ln w="12700">
            <a:solidFill>
              <a:srgbClr val="2F4A72"/>
            </a:solidFill>
            <a:prstDash val="solid"/>
          </a:ln>
        </p:spPr>
      </p:sp>
      <p:pic>
        <p:nvPicPr>
          <p:cNvPr id="6" name="Image 0" descr="Captura de la we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8865" y="1591056"/>
            <a:ext cx="1808432" cy="3913632"/>
          </a:xfrm>
          <a:prstGeom prst="rect">
            <a:avLst/>
          </a:prstGeom>
        </p:spPr>
      </p:pic>
      <p:sp>
        <p:nvSpPr>
          <p:cNvPr id="7" name="Pie"/>
          <p:cNvSpPr txBox="1"/>
          <p:nvPr/>
        </p:nvSpPr>
        <p:spPr>
          <a:xfrm>
            <a:off x="2118858" y="5815584"/>
            <a:ext cx="2468447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Fotos por isla y por evento</a:t>
            </a:r>
            <a:endParaRPr lang="en-US" sz="1200" dirty="0"/>
          </a:p>
        </p:txBody>
      </p:sp>
      <p:sp>
        <p:nvSpPr>
          <p:cNvPr id="8" name="Teléfono"/>
          <p:cNvSpPr/>
          <p:nvPr/>
        </p:nvSpPr>
        <p:spPr>
          <a:xfrm>
            <a:off x="5109336" y="1371600"/>
            <a:ext cx="1973024" cy="4352544"/>
          </a:xfrm>
          <a:prstGeom prst="roundRect">
            <a:avLst>
              <a:gd name="adj" fmla="val 12977"/>
            </a:avLst>
          </a:prstGeom>
          <a:solidFill>
            <a:srgbClr val="05080F"/>
          </a:solidFill>
          <a:ln w="15875">
            <a:solidFill>
              <a:srgbClr val="2F4A72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21528" y="1453896"/>
            <a:ext cx="548640" cy="64008"/>
          </a:xfrm>
          <a:prstGeom prst="roundRect">
            <a:avLst>
              <a:gd name="adj" fmla="val 50000"/>
            </a:avLst>
          </a:prstGeom>
          <a:solidFill>
            <a:srgbClr val="2F4A72"/>
          </a:solidFill>
          <a:ln w="12700">
            <a:solidFill>
              <a:srgbClr val="2F4A72"/>
            </a:solidFill>
            <a:prstDash val="solid"/>
          </a:ln>
        </p:spPr>
      </p:sp>
      <p:pic>
        <p:nvPicPr>
          <p:cNvPr id="10" name="Image 1" descr="Captura de la we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1632" y="1591056"/>
            <a:ext cx="1808432" cy="3913632"/>
          </a:xfrm>
          <a:prstGeom prst="rect">
            <a:avLst/>
          </a:prstGeom>
        </p:spPr>
      </p:pic>
      <p:sp>
        <p:nvSpPr>
          <p:cNvPr id="11" name="Pie"/>
          <p:cNvSpPr txBox="1"/>
          <p:nvPr/>
        </p:nvSpPr>
        <p:spPr>
          <a:xfrm>
            <a:off x="4861624" y="5815584"/>
            <a:ext cx="2468447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Tienda: cada producto rota tres fotos</a:t>
            </a:r>
            <a:endParaRPr lang="en-US" sz="1200" dirty="0"/>
          </a:p>
        </p:txBody>
      </p:sp>
      <p:sp>
        <p:nvSpPr>
          <p:cNvPr id="12" name="Teléfono"/>
          <p:cNvSpPr/>
          <p:nvPr/>
        </p:nvSpPr>
        <p:spPr>
          <a:xfrm>
            <a:off x="7852102" y="1371600"/>
            <a:ext cx="1973024" cy="4352544"/>
          </a:xfrm>
          <a:prstGeom prst="roundRect">
            <a:avLst>
              <a:gd name="adj" fmla="val 12977"/>
            </a:avLst>
          </a:prstGeom>
          <a:solidFill>
            <a:srgbClr val="05080F"/>
          </a:solidFill>
          <a:ln w="15875">
            <a:solidFill>
              <a:srgbClr val="2F4A72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564294" y="1453896"/>
            <a:ext cx="548640" cy="64008"/>
          </a:xfrm>
          <a:prstGeom prst="roundRect">
            <a:avLst>
              <a:gd name="adj" fmla="val 50000"/>
            </a:avLst>
          </a:prstGeom>
          <a:solidFill>
            <a:srgbClr val="2F4A72"/>
          </a:solidFill>
          <a:ln w="12700">
            <a:solidFill>
              <a:srgbClr val="2F4A72"/>
            </a:solidFill>
            <a:prstDash val="solid"/>
          </a:ln>
        </p:spPr>
      </p:sp>
      <p:pic>
        <p:nvPicPr>
          <p:cNvPr id="14" name="Image 2" descr="Captura de la web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4398" y="1591056"/>
            <a:ext cx="1808432" cy="3913632"/>
          </a:xfrm>
          <a:prstGeom prst="rect">
            <a:avLst/>
          </a:prstGeom>
        </p:spPr>
      </p:pic>
      <p:sp>
        <p:nvSpPr>
          <p:cNvPr id="15" name="Pie"/>
          <p:cNvSpPr txBox="1"/>
          <p:nvPr/>
        </p:nvSpPr>
        <p:spPr>
          <a:xfrm>
            <a:off x="7604391" y="5815584"/>
            <a:ext cx="2468447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«Comprar»: sólo a la venta en la fiesta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4E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548640" y="4114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4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PÁGINAS  ·  LEGALES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6035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Aviso legal, privacidad y cookies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6035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páginas enlazadas desde el pie: aviso legal y condiciones de uso, privacidad y cookies. Explican quién está detrás, qué datos se guardan y que no hay cookies de publicidad.</a:t>
            </a:r>
            <a:endParaRPr lang="en-US" sz="160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 el titular y sus datos son inventados, y cada página lo avisa arriba en un recuadro. Con cuentas de usuario, la privacidad explica además qué se recoge y para qué.</a:t>
            </a:r>
            <a:endParaRPr lang="en-US" sz="1600" dirty="0"/>
          </a:p>
        </p:txBody>
      </p:sp>
      <p:sp>
        <p:nvSpPr>
          <p:cNvPr id="5" name="Destacado"/>
          <p:cNvSpPr txBox="1"/>
          <p:nvPr/>
        </p:nvSpPr>
        <p:spPr>
          <a:xfrm>
            <a:off x="548640" y="4937760"/>
            <a:ext cx="6035040" cy="1051560"/>
          </a:xfrm>
          <a:prstGeom prst="roundRect">
            <a:avLst>
              <a:gd name="adj" fmla="val 10435"/>
            </a:avLst>
          </a:prstGeom>
          <a:solidFill>
            <a:srgbClr val="1A3052"/>
          </a:solidFill>
          <a:ln w="12700">
            <a:solidFill>
              <a:srgbClr val="2F4A72"/>
            </a:solidFill>
          </a:ln>
        </p:spPr>
        <p:txBody>
          <a:bodyPr wrap="square" lIns="127000" tIns="203200" rIns="203200" bIns="12700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datos legales reales y revisados no se puede publicar.</a:t>
            </a:r>
            <a:endParaRPr lang="en-US" sz="1700" dirty="0"/>
          </a:p>
        </p:txBody>
      </p:sp>
      <p:sp>
        <p:nvSpPr>
          <p:cNvPr id="6" name="Teléfono"/>
          <p:cNvSpPr/>
          <p:nvPr/>
        </p:nvSpPr>
        <p:spPr>
          <a:xfrm>
            <a:off x="7984387" y="411480"/>
            <a:ext cx="2623721" cy="5760720"/>
          </a:xfrm>
          <a:prstGeom prst="roundRect">
            <a:avLst>
              <a:gd name="adj" fmla="val 9758"/>
            </a:avLst>
          </a:prstGeom>
          <a:solidFill>
            <a:srgbClr val="05080F"/>
          </a:solidFill>
          <a:ln w="15875">
            <a:solidFill>
              <a:srgbClr val="2F4A72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021928" y="493776"/>
            <a:ext cx="548640" cy="64008"/>
          </a:xfrm>
          <a:prstGeom prst="roundRect">
            <a:avLst>
              <a:gd name="adj" fmla="val 50000"/>
            </a:avLst>
          </a:prstGeom>
          <a:solidFill>
            <a:srgbClr val="2F4A72"/>
          </a:solidFill>
          <a:ln w="12700">
            <a:solidFill>
              <a:srgbClr val="2F4A72"/>
            </a:solidFill>
            <a:prstDash val="solid"/>
          </a:ln>
        </p:spPr>
      </p:sp>
      <p:pic>
        <p:nvPicPr>
          <p:cNvPr id="8" name="Image 0" descr="Captura de la we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6683" y="630936"/>
            <a:ext cx="2459129" cy="53218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4E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4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PÁGINAS  ·  EVENTOS Y ARTISTAS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Qué falta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necesarios para salir   ·   2 pueden esperar</a:t>
            </a:r>
            <a:endParaRPr lang="en-US" sz="1300" dirty="0"/>
          </a:p>
        </p:txBody>
      </p:sp>
      <p:sp>
        <p:nvSpPr>
          <p:cNvPr id="5" name="Fila"/>
          <p:cNvSpPr/>
          <p:nvPr/>
        </p:nvSpPr>
        <p:spPr>
          <a:xfrm>
            <a:off x="548640" y="1737360"/>
            <a:ext cx="11094415" cy="640080"/>
          </a:xfrm>
          <a:prstGeom prst="roundRect">
            <a:avLst>
              <a:gd name="adj" fmla="val 14286"/>
            </a:avLst>
          </a:prstGeom>
          <a:solidFill>
            <a:srgbClr val="1A3052"/>
          </a:solidFill>
          <a:ln w="12700">
            <a:solidFill>
              <a:srgbClr val="1A3052"/>
            </a:solidFill>
            <a:prstDash val="solid"/>
          </a:ln>
        </p:spPr>
      </p:sp>
      <p:sp>
        <p:nvSpPr>
          <p:cNvPr id="6" name="Necesario para salir"/>
          <p:cNvSpPr txBox="1"/>
          <p:nvPr/>
        </p:nvSpPr>
        <p:spPr>
          <a:xfrm>
            <a:off x="731520" y="1883664"/>
            <a:ext cx="2148840" cy="347472"/>
          </a:xfrm>
          <a:prstGeom prst="roundRect">
            <a:avLst>
              <a:gd name="adj" fmla="val 50000"/>
            </a:avLst>
          </a:prstGeom>
          <a:solidFill>
            <a:srgbClr val="EC4F24"/>
          </a:solidFill>
          <a:ln w="19050">
            <a:solidFill>
              <a:srgbClr val="EC4F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Necesario para salir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154680" y="1737360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Cartel de Halloween (y de SONIDO y Nochevieja cuando existan)</a:t>
            </a:r>
            <a:endParaRPr lang="en-US" sz="1500" dirty="0"/>
          </a:p>
        </p:txBody>
      </p:sp>
      <p:sp>
        <p:nvSpPr>
          <p:cNvPr id="8" name="Quién"/>
          <p:cNvSpPr txBox="1"/>
          <p:nvPr/>
        </p:nvSpPr>
        <p:spPr>
          <a:xfrm>
            <a:off x="9905695" y="17373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Álvaro</a:t>
            </a:r>
            <a:endParaRPr lang="en-US" sz="1200" dirty="0"/>
          </a:p>
        </p:txBody>
      </p:sp>
      <p:sp>
        <p:nvSpPr>
          <p:cNvPr id="9" name="Fila"/>
          <p:cNvSpPr/>
          <p:nvPr/>
        </p:nvSpPr>
        <p:spPr>
          <a:xfrm>
            <a:off x="548640" y="2505456"/>
            <a:ext cx="11094415" cy="640080"/>
          </a:xfrm>
          <a:prstGeom prst="roundRect">
            <a:avLst>
              <a:gd name="adj" fmla="val 14286"/>
            </a:avLst>
          </a:prstGeom>
          <a:solidFill>
            <a:srgbClr val="1A3052"/>
          </a:solidFill>
          <a:ln w="12700">
            <a:solidFill>
              <a:srgbClr val="1A3052"/>
            </a:solidFill>
            <a:prstDash val="solid"/>
          </a:ln>
        </p:spPr>
      </p:sp>
      <p:sp>
        <p:nvSpPr>
          <p:cNvPr id="10" name="Necesario para salir"/>
          <p:cNvSpPr txBox="1"/>
          <p:nvPr/>
        </p:nvSpPr>
        <p:spPr>
          <a:xfrm>
            <a:off x="731520" y="2651760"/>
            <a:ext cx="2148840" cy="347472"/>
          </a:xfrm>
          <a:prstGeom prst="roundRect">
            <a:avLst>
              <a:gd name="adj" fmla="val 50000"/>
            </a:avLst>
          </a:prstGeom>
          <a:solidFill>
            <a:srgbClr val="EC4F24"/>
          </a:solidFill>
          <a:ln w="19050">
            <a:solidFill>
              <a:srgbClr val="EC4F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Necesario para salir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154680" y="2505456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Confirmar horas, precios y lugar de cada evento (hoy son de muestra)</a:t>
            </a:r>
            <a:endParaRPr lang="en-US" sz="1500" dirty="0"/>
          </a:p>
        </p:txBody>
      </p:sp>
      <p:sp>
        <p:nvSpPr>
          <p:cNvPr id="12" name="Quién"/>
          <p:cNvSpPr txBox="1"/>
          <p:nvPr/>
        </p:nvSpPr>
        <p:spPr>
          <a:xfrm>
            <a:off x="9905695" y="2505456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Álvaro</a:t>
            </a:r>
            <a:endParaRPr lang="en-US" sz="1200" dirty="0"/>
          </a:p>
        </p:txBody>
      </p:sp>
      <p:sp>
        <p:nvSpPr>
          <p:cNvPr id="13" name="Fila"/>
          <p:cNvSpPr/>
          <p:nvPr/>
        </p:nvSpPr>
        <p:spPr>
          <a:xfrm>
            <a:off x="548640" y="3273552"/>
            <a:ext cx="11094415" cy="640080"/>
          </a:xfrm>
          <a:prstGeom prst="roundRect">
            <a:avLst>
              <a:gd name="adj" fmla="val 14286"/>
            </a:avLst>
          </a:prstGeom>
          <a:solidFill>
            <a:srgbClr val="1A3052"/>
          </a:solidFill>
          <a:ln w="12700">
            <a:solidFill>
              <a:srgbClr val="1A3052"/>
            </a:solidFill>
            <a:prstDash val="solid"/>
          </a:ln>
        </p:spPr>
      </p:sp>
      <p:sp>
        <p:nvSpPr>
          <p:cNvPr id="14" name="Necesario para salir"/>
          <p:cNvSpPr txBox="1"/>
          <p:nvPr/>
        </p:nvSpPr>
        <p:spPr>
          <a:xfrm>
            <a:off x="731520" y="3419856"/>
            <a:ext cx="2148840" cy="347472"/>
          </a:xfrm>
          <a:prstGeom prst="roundRect">
            <a:avLst>
              <a:gd name="adj" fmla="val 50000"/>
            </a:avLst>
          </a:prstGeom>
          <a:solidFill>
            <a:srgbClr val="EC4F24"/>
          </a:solidFill>
          <a:ln w="19050">
            <a:solidFill>
              <a:srgbClr val="EC4F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Necesario para salir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154680" y="3273552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Elegir la ticketera y poner el enlace real de compra de Nochevieja</a:t>
            </a:r>
            <a:endParaRPr lang="en-US" sz="1500" dirty="0"/>
          </a:p>
        </p:txBody>
      </p:sp>
      <p:sp>
        <p:nvSpPr>
          <p:cNvPr id="16" name="Quién"/>
          <p:cNvSpPr txBox="1"/>
          <p:nvPr/>
        </p:nvSpPr>
        <p:spPr>
          <a:xfrm>
            <a:off x="9905695" y="327355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Álvaro</a:t>
            </a:r>
            <a:endParaRPr lang="en-US" sz="1200" dirty="0"/>
          </a:p>
        </p:txBody>
      </p:sp>
      <p:sp>
        <p:nvSpPr>
          <p:cNvPr id="17" name="Fila"/>
          <p:cNvSpPr/>
          <p:nvPr/>
        </p:nvSpPr>
        <p:spPr>
          <a:xfrm>
            <a:off x="548640" y="4041648"/>
            <a:ext cx="11094415" cy="640080"/>
          </a:xfrm>
          <a:prstGeom prst="roundRect">
            <a:avLst>
              <a:gd name="adj" fmla="val 14286"/>
            </a:avLst>
          </a:prstGeom>
          <a:solidFill>
            <a:srgbClr val="1A3052"/>
          </a:solidFill>
          <a:ln w="12700">
            <a:solidFill>
              <a:srgbClr val="1A3052"/>
            </a:solidFill>
            <a:prstDash val="solid"/>
          </a:ln>
        </p:spPr>
      </p:sp>
      <p:sp>
        <p:nvSpPr>
          <p:cNvPr id="18" name="Necesario para salir"/>
          <p:cNvSpPr txBox="1"/>
          <p:nvPr/>
        </p:nvSpPr>
        <p:spPr>
          <a:xfrm>
            <a:off x="731520" y="4187952"/>
            <a:ext cx="2148840" cy="347472"/>
          </a:xfrm>
          <a:prstGeom prst="roundRect">
            <a:avLst>
              <a:gd name="adj" fmla="val 50000"/>
            </a:avLst>
          </a:prstGeom>
          <a:solidFill>
            <a:srgbClr val="EC4F24"/>
          </a:solidFill>
          <a:ln w="19050">
            <a:solidFill>
              <a:srgbClr val="EC4F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Necesario para salir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154680" y="4041648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Aprobar la taquilla de Halloween y SONIDO: el texto y los 2 € de descuento con Carnet</a:t>
            </a:r>
            <a:endParaRPr lang="en-US" sz="1500" dirty="0"/>
          </a:p>
        </p:txBody>
      </p:sp>
      <p:sp>
        <p:nvSpPr>
          <p:cNvPr id="20" name="Quién"/>
          <p:cNvSpPr txBox="1"/>
          <p:nvPr/>
        </p:nvSpPr>
        <p:spPr>
          <a:xfrm>
            <a:off x="9905695" y="404164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Álvaro y socios</a:t>
            </a:r>
            <a:endParaRPr lang="en-US" sz="1200" dirty="0"/>
          </a:p>
        </p:txBody>
      </p:sp>
      <p:sp>
        <p:nvSpPr>
          <p:cNvPr id="21" name="Fila"/>
          <p:cNvSpPr/>
          <p:nvPr/>
        </p:nvSpPr>
        <p:spPr>
          <a:xfrm>
            <a:off x="548640" y="4809744"/>
            <a:ext cx="11094415" cy="640080"/>
          </a:xfrm>
          <a:prstGeom prst="roundRect">
            <a:avLst>
              <a:gd name="adj" fmla="val 14286"/>
            </a:avLst>
          </a:prstGeom>
          <a:solidFill>
            <a:srgbClr val="1A3052"/>
          </a:solidFill>
          <a:ln w="12700">
            <a:solidFill>
              <a:srgbClr val="1A3052"/>
            </a:solidFill>
            <a:prstDash val="solid"/>
          </a:ln>
        </p:spPr>
      </p:sp>
      <p:sp>
        <p:nvSpPr>
          <p:cNvPr id="22" name="Puede esperar"/>
          <p:cNvSpPr txBox="1"/>
          <p:nvPr/>
        </p:nvSpPr>
        <p:spPr>
          <a:xfrm>
            <a:off x="731520" y="4956048"/>
            <a:ext cx="2148840" cy="347472"/>
          </a:xfrm>
          <a:prstGeom prst="roundRect">
            <a:avLst>
              <a:gd name="adj" fmla="val 50000"/>
            </a:avLst>
          </a:prstGeom>
          <a:solidFill>
            <a:srgbClr val="0B1830"/>
          </a:solidFill>
          <a:ln w="19050">
            <a:solidFill>
              <a:srgbClr val="B9A6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Puede esperar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154680" y="4809744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 del próximo All Day BOIA, para crear su evento</a:t>
            </a:r>
            <a:endParaRPr lang="en-US" sz="1500" dirty="0"/>
          </a:p>
        </p:txBody>
      </p:sp>
      <p:sp>
        <p:nvSpPr>
          <p:cNvPr id="24" name="Quién"/>
          <p:cNvSpPr txBox="1"/>
          <p:nvPr/>
        </p:nvSpPr>
        <p:spPr>
          <a:xfrm>
            <a:off x="9905695" y="4809744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Álvaro</a:t>
            </a:r>
            <a:endParaRPr lang="en-US" sz="1200" dirty="0"/>
          </a:p>
        </p:txBody>
      </p:sp>
      <p:sp>
        <p:nvSpPr>
          <p:cNvPr id="25" name="Fila"/>
          <p:cNvSpPr/>
          <p:nvPr/>
        </p:nvSpPr>
        <p:spPr>
          <a:xfrm>
            <a:off x="548640" y="5577840"/>
            <a:ext cx="11094415" cy="640080"/>
          </a:xfrm>
          <a:prstGeom prst="roundRect">
            <a:avLst>
              <a:gd name="adj" fmla="val 14286"/>
            </a:avLst>
          </a:prstGeom>
          <a:solidFill>
            <a:srgbClr val="1A3052"/>
          </a:solidFill>
          <a:ln w="12700">
            <a:solidFill>
              <a:srgbClr val="1A3052"/>
            </a:solidFill>
            <a:prstDash val="solid"/>
          </a:ln>
        </p:spPr>
      </p:sp>
      <p:sp>
        <p:nvSpPr>
          <p:cNvPr id="26" name="Puede esperar"/>
          <p:cNvSpPr txBox="1"/>
          <p:nvPr/>
        </p:nvSpPr>
        <p:spPr>
          <a:xfrm>
            <a:off x="731520" y="5724144"/>
            <a:ext cx="2148840" cy="347472"/>
          </a:xfrm>
          <a:prstGeom prst="roundRect">
            <a:avLst>
              <a:gd name="adj" fmla="val 50000"/>
            </a:avLst>
          </a:prstGeom>
          <a:solidFill>
            <a:srgbClr val="0B1830"/>
          </a:solidFill>
          <a:ln w="19050">
            <a:solidFill>
              <a:srgbClr val="B9A6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Puede esperar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3154680" y="5577840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Fotos de los 26 artistas y repartir el enlace de artistas (necesita cuentas)</a:t>
            </a:r>
            <a:endParaRPr lang="en-US" sz="1500" dirty="0"/>
          </a:p>
        </p:txBody>
      </p:sp>
      <p:sp>
        <p:nvSpPr>
          <p:cNvPr id="28" name="Quién"/>
          <p:cNvSpPr txBox="1"/>
          <p:nvPr/>
        </p:nvSpPr>
        <p:spPr>
          <a:xfrm>
            <a:off x="9905695" y="55778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Álvaro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4E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4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PÁGINAS  ·  FOTOS, TIENDA Y LEGALES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Qué falta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necesarios para salir   ·   1 puede esperar</a:t>
            </a:r>
            <a:endParaRPr lang="en-US" sz="1300" dirty="0"/>
          </a:p>
        </p:txBody>
      </p:sp>
      <p:sp>
        <p:nvSpPr>
          <p:cNvPr id="5" name="Fila"/>
          <p:cNvSpPr/>
          <p:nvPr/>
        </p:nvSpPr>
        <p:spPr>
          <a:xfrm>
            <a:off x="548640" y="1737360"/>
            <a:ext cx="11094415" cy="640080"/>
          </a:xfrm>
          <a:prstGeom prst="roundRect">
            <a:avLst>
              <a:gd name="adj" fmla="val 14286"/>
            </a:avLst>
          </a:prstGeom>
          <a:solidFill>
            <a:srgbClr val="1A3052"/>
          </a:solidFill>
          <a:ln w="12700">
            <a:solidFill>
              <a:srgbClr val="1A3052"/>
            </a:solidFill>
            <a:prstDash val="solid"/>
          </a:ln>
        </p:spPr>
      </p:sp>
      <p:sp>
        <p:nvSpPr>
          <p:cNvPr id="6" name="Necesario para salir"/>
          <p:cNvSpPr txBox="1"/>
          <p:nvPr/>
        </p:nvSpPr>
        <p:spPr>
          <a:xfrm>
            <a:off x="731520" y="1883664"/>
            <a:ext cx="2148840" cy="347472"/>
          </a:xfrm>
          <a:prstGeom prst="roundRect">
            <a:avLst>
              <a:gd name="adj" fmla="val 50000"/>
            </a:avLst>
          </a:prstGeom>
          <a:solidFill>
            <a:srgbClr val="EC4F24"/>
          </a:solidFill>
          <a:ln w="19050">
            <a:solidFill>
              <a:srgbClr val="EC4F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Necesario para salir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154680" y="1737360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Fotos reales de los eventos pasados para sustituir los recuadros de muestra</a:t>
            </a:r>
            <a:endParaRPr lang="en-US" sz="1500" dirty="0"/>
          </a:p>
        </p:txBody>
      </p:sp>
      <p:sp>
        <p:nvSpPr>
          <p:cNvPr id="8" name="Quién"/>
          <p:cNvSpPr txBox="1"/>
          <p:nvPr/>
        </p:nvSpPr>
        <p:spPr>
          <a:xfrm>
            <a:off x="9905695" y="17373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Álvaro y socios</a:t>
            </a:r>
            <a:endParaRPr lang="en-US" sz="1200" dirty="0"/>
          </a:p>
        </p:txBody>
      </p:sp>
      <p:sp>
        <p:nvSpPr>
          <p:cNvPr id="9" name="Fila"/>
          <p:cNvSpPr/>
          <p:nvPr/>
        </p:nvSpPr>
        <p:spPr>
          <a:xfrm>
            <a:off x="548640" y="2505456"/>
            <a:ext cx="11094415" cy="640080"/>
          </a:xfrm>
          <a:prstGeom prst="roundRect">
            <a:avLst>
              <a:gd name="adj" fmla="val 14286"/>
            </a:avLst>
          </a:prstGeom>
          <a:solidFill>
            <a:srgbClr val="1A3052"/>
          </a:solidFill>
          <a:ln w="12700">
            <a:solidFill>
              <a:srgbClr val="1A3052"/>
            </a:solidFill>
            <a:prstDash val="solid"/>
          </a:ln>
        </p:spPr>
      </p:sp>
      <p:sp>
        <p:nvSpPr>
          <p:cNvPr id="10" name="Necesario para salir"/>
          <p:cNvSpPr txBox="1"/>
          <p:nvPr/>
        </p:nvSpPr>
        <p:spPr>
          <a:xfrm>
            <a:off x="731520" y="2651760"/>
            <a:ext cx="2148840" cy="347472"/>
          </a:xfrm>
          <a:prstGeom prst="roundRect">
            <a:avLst>
              <a:gd name="adj" fmla="val 50000"/>
            </a:avLst>
          </a:prstGeom>
          <a:solidFill>
            <a:srgbClr val="EC4F24"/>
          </a:solidFill>
          <a:ln w="19050">
            <a:solidFill>
              <a:srgbClr val="EC4F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Necesario para salir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154680" y="2505456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Fotos de los productos reales de la tienda (sola, otro ángulo, con modelo)</a:t>
            </a:r>
            <a:endParaRPr lang="en-US" sz="1500" dirty="0"/>
          </a:p>
        </p:txBody>
      </p:sp>
      <p:sp>
        <p:nvSpPr>
          <p:cNvPr id="12" name="Quién"/>
          <p:cNvSpPr txBox="1"/>
          <p:nvPr/>
        </p:nvSpPr>
        <p:spPr>
          <a:xfrm>
            <a:off x="9905695" y="2505456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Álvaro</a:t>
            </a:r>
            <a:endParaRPr lang="en-US" sz="1200" dirty="0"/>
          </a:p>
        </p:txBody>
      </p:sp>
      <p:sp>
        <p:nvSpPr>
          <p:cNvPr id="13" name="Fila"/>
          <p:cNvSpPr/>
          <p:nvPr/>
        </p:nvSpPr>
        <p:spPr>
          <a:xfrm>
            <a:off x="548640" y="3273552"/>
            <a:ext cx="11094415" cy="640080"/>
          </a:xfrm>
          <a:prstGeom prst="roundRect">
            <a:avLst>
              <a:gd name="adj" fmla="val 14286"/>
            </a:avLst>
          </a:prstGeom>
          <a:solidFill>
            <a:srgbClr val="1A3052"/>
          </a:solidFill>
          <a:ln w="12700">
            <a:solidFill>
              <a:srgbClr val="1A3052"/>
            </a:solidFill>
            <a:prstDash val="solid"/>
          </a:ln>
        </p:spPr>
      </p:sp>
      <p:sp>
        <p:nvSpPr>
          <p:cNvPr id="14" name="Necesario para salir"/>
          <p:cNvSpPr txBox="1"/>
          <p:nvPr/>
        </p:nvSpPr>
        <p:spPr>
          <a:xfrm>
            <a:off x="731520" y="3419856"/>
            <a:ext cx="2148840" cy="347472"/>
          </a:xfrm>
          <a:prstGeom prst="roundRect">
            <a:avLst>
              <a:gd name="adj" fmla="val 50000"/>
            </a:avLst>
          </a:prstGeom>
          <a:solidFill>
            <a:srgbClr val="EC4F24"/>
          </a:solidFill>
          <a:ln w="19050">
            <a:solidFill>
              <a:srgbClr val="EC4F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Necesario para salir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154680" y="3273552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Confirmar el Instagram real al que se escribe para comprar en la tienda</a:t>
            </a:r>
            <a:endParaRPr lang="en-US" sz="1500" dirty="0"/>
          </a:p>
        </p:txBody>
      </p:sp>
      <p:sp>
        <p:nvSpPr>
          <p:cNvPr id="16" name="Quién"/>
          <p:cNvSpPr txBox="1"/>
          <p:nvPr/>
        </p:nvSpPr>
        <p:spPr>
          <a:xfrm>
            <a:off x="9905695" y="327355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Álvaro</a:t>
            </a:r>
            <a:endParaRPr lang="en-US" sz="1200" dirty="0"/>
          </a:p>
        </p:txBody>
      </p:sp>
      <p:sp>
        <p:nvSpPr>
          <p:cNvPr id="17" name="Fila"/>
          <p:cNvSpPr/>
          <p:nvPr/>
        </p:nvSpPr>
        <p:spPr>
          <a:xfrm>
            <a:off x="548640" y="4041648"/>
            <a:ext cx="11094415" cy="640080"/>
          </a:xfrm>
          <a:prstGeom prst="roundRect">
            <a:avLst>
              <a:gd name="adj" fmla="val 14286"/>
            </a:avLst>
          </a:prstGeom>
          <a:solidFill>
            <a:srgbClr val="1A3052"/>
          </a:solidFill>
          <a:ln w="12700">
            <a:solidFill>
              <a:srgbClr val="1A3052"/>
            </a:solidFill>
            <a:prstDash val="solid"/>
          </a:ln>
        </p:spPr>
      </p:sp>
      <p:sp>
        <p:nvSpPr>
          <p:cNvPr id="18" name="Necesario para salir"/>
          <p:cNvSpPr txBox="1"/>
          <p:nvPr/>
        </p:nvSpPr>
        <p:spPr>
          <a:xfrm>
            <a:off x="731520" y="4187952"/>
            <a:ext cx="2148840" cy="347472"/>
          </a:xfrm>
          <a:prstGeom prst="roundRect">
            <a:avLst>
              <a:gd name="adj" fmla="val 50000"/>
            </a:avLst>
          </a:prstGeom>
          <a:solidFill>
            <a:srgbClr val="EC4F24"/>
          </a:solidFill>
          <a:ln w="19050">
            <a:solidFill>
              <a:srgbClr val="EC4F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Necesario para salir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154680" y="4041648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legales reales (titular, NIF, domicilio, correo) y revisión profesional</a:t>
            </a:r>
            <a:endParaRPr lang="en-US" sz="1500" dirty="0"/>
          </a:p>
        </p:txBody>
      </p:sp>
      <p:sp>
        <p:nvSpPr>
          <p:cNvPr id="20" name="Quién"/>
          <p:cNvSpPr txBox="1"/>
          <p:nvPr/>
        </p:nvSpPr>
        <p:spPr>
          <a:xfrm>
            <a:off x="9905695" y="404164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Álvaro</a:t>
            </a:r>
            <a:endParaRPr lang="en-US" sz="1200" dirty="0"/>
          </a:p>
        </p:txBody>
      </p:sp>
      <p:sp>
        <p:nvSpPr>
          <p:cNvPr id="21" name="Fila"/>
          <p:cNvSpPr/>
          <p:nvPr/>
        </p:nvSpPr>
        <p:spPr>
          <a:xfrm>
            <a:off x="548640" y="4809744"/>
            <a:ext cx="11094415" cy="640080"/>
          </a:xfrm>
          <a:prstGeom prst="roundRect">
            <a:avLst>
              <a:gd name="adj" fmla="val 14286"/>
            </a:avLst>
          </a:prstGeom>
          <a:solidFill>
            <a:srgbClr val="1A3052"/>
          </a:solidFill>
          <a:ln w="12700">
            <a:solidFill>
              <a:srgbClr val="1A3052"/>
            </a:solidFill>
            <a:prstDash val="solid"/>
          </a:ln>
        </p:spPr>
      </p:sp>
      <p:sp>
        <p:nvSpPr>
          <p:cNvPr id="22" name="Necesario para salir"/>
          <p:cNvSpPr txBox="1"/>
          <p:nvPr/>
        </p:nvSpPr>
        <p:spPr>
          <a:xfrm>
            <a:off x="731520" y="4956048"/>
            <a:ext cx="2148840" cy="347472"/>
          </a:xfrm>
          <a:prstGeom prst="roundRect">
            <a:avLst>
              <a:gd name="adj" fmla="val 50000"/>
            </a:avLst>
          </a:prstGeom>
          <a:solidFill>
            <a:srgbClr val="EC4F24"/>
          </a:solidFill>
          <a:ln w="19050">
            <a:solidFill>
              <a:srgbClr val="EC4F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Necesario para salir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154680" y="4809744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Leer y aprobar los textos de estas páginas, que hoy son de muestra</a:t>
            </a:r>
            <a:endParaRPr lang="en-US" sz="1500" dirty="0"/>
          </a:p>
        </p:txBody>
      </p:sp>
      <p:sp>
        <p:nvSpPr>
          <p:cNvPr id="24" name="Quién"/>
          <p:cNvSpPr txBox="1"/>
          <p:nvPr/>
        </p:nvSpPr>
        <p:spPr>
          <a:xfrm>
            <a:off x="9905695" y="4809744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Álvaro</a:t>
            </a:r>
            <a:endParaRPr lang="en-US" sz="1200" dirty="0"/>
          </a:p>
        </p:txBody>
      </p:sp>
      <p:sp>
        <p:nvSpPr>
          <p:cNvPr id="25" name="Fila"/>
          <p:cNvSpPr/>
          <p:nvPr/>
        </p:nvSpPr>
        <p:spPr>
          <a:xfrm>
            <a:off x="548640" y="5577840"/>
            <a:ext cx="11094415" cy="640080"/>
          </a:xfrm>
          <a:prstGeom prst="roundRect">
            <a:avLst>
              <a:gd name="adj" fmla="val 14286"/>
            </a:avLst>
          </a:prstGeom>
          <a:solidFill>
            <a:srgbClr val="1A3052"/>
          </a:solidFill>
          <a:ln w="12700">
            <a:solidFill>
              <a:srgbClr val="1A3052"/>
            </a:solidFill>
            <a:prstDash val="solid"/>
          </a:ln>
        </p:spPr>
      </p:sp>
      <p:sp>
        <p:nvSpPr>
          <p:cNvPr id="26" name="Puede esperar"/>
          <p:cNvSpPr txBox="1"/>
          <p:nvPr/>
        </p:nvSpPr>
        <p:spPr>
          <a:xfrm>
            <a:off x="731520" y="5724144"/>
            <a:ext cx="2148840" cy="347472"/>
          </a:xfrm>
          <a:prstGeom prst="roundRect">
            <a:avLst>
              <a:gd name="adj" fmla="val 50000"/>
            </a:avLst>
          </a:prstGeom>
          <a:solidFill>
            <a:srgbClr val="0B1830"/>
          </a:solidFill>
          <a:ln w="19050">
            <a:solidFill>
              <a:srgbClr val="B9A6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Puede esperar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3154680" y="5577840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Probar una subida real de fotos con cuentas de usuario</a:t>
            </a:r>
            <a:endParaRPr lang="en-US" sz="1500" dirty="0"/>
          </a:p>
        </p:txBody>
      </p:sp>
      <p:sp>
        <p:nvSpPr>
          <p:cNvPr id="28" name="Quién"/>
          <p:cNvSpPr txBox="1"/>
          <p:nvPr/>
        </p:nvSpPr>
        <p:spPr>
          <a:xfrm>
            <a:off x="9905695" y="55778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4E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4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PÁGINAS  ·  TODAS LAS PÁGINAS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Preguntas y propuestas</a:t>
            </a:r>
            <a:endParaRPr lang="en-US" sz="2800" dirty="0"/>
          </a:p>
        </p:txBody>
      </p:sp>
      <p:sp>
        <p:nvSpPr>
          <p:cNvPr id="4" name="Preguntas"/>
          <p:cNvSpPr/>
          <p:nvPr/>
        </p:nvSpPr>
        <p:spPr>
          <a:xfrm>
            <a:off x="548640" y="1417320"/>
            <a:ext cx="5364328" cy="4800600"/>
          </a:xfrm>
          <a:prstGeom prst="roundRect">
            <a:avLst>
              <a:gd name="adj" fmla="val 2667"/>
            </a:avLst>
          </a:prstGeom>
          <a:solidFill>
            <a:srgbClr val="1A3052"/>
          </a:solidFill>
          <a:ln w="12700">
            <a:solidFill>
              <a:srgbClr val="2F4A7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457200" cy="457200"/>
          </a:xfrm>
          <a:prstGeom prst="ellipse">
            <a:avLst/>
          </a:prstGeom>
          <a:solidFill>
            <a:srgbClr val="EC4F24"/>
          </a:solidFill>
          <a:ln>
            <a:solidFill>
              <a:srgbClr val="EC4F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9164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Preguntas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481568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¿La taquilla con 2 € de descuento con Carnet se queda para Halloween y SONIDO, o también Nochevieja?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¿Quién de BOIA tiene las fotos de fiestas pasadas y quién elige cuáles salen?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productos vendemos en la fiesta y quién les hace las fotos?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¿Quién es el titular legal de la web (asociación, empresa, persona) y quién revisa los textos?</a:t>
            </a:r>
            <a:endParaRPr lang="en-US" sz="1500" dirty="0"/>
          </a:p>
        </p:txBody>
      </p:sp>
      <p:sp>
        <p:nvSpPr>
          <p:cNvPr id="8" name="Propuestas"/>
          <p:cNvSpPr/>
          <p:nvPr/>
        </p:nvSpPr>
        <p:spPr>
          <a:xfrm>
            <a:off x="6278728" y="1417320"/>
            <a:ext cx="5364328" cy="4800600"/>
          </a:xfrm>
          <a:prstGeom prst="roundRect">
            <a:avLst>
              <a:gd name="adj" fmla="val 2667"/>
            </a:avLst>
          </a:prstGeom>
          <a:solidFill>
            <a:srgbClr val="1A3052"/>
          </a:solidFill>
          <a:ln w="12700">
            <a:solidFill>
              <a:srgbClr val="2F4A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53048" y="1691640"/>
            <a:ext cx="457200" cy="457200"/>
          </a:xfrm>
          <a:prstGeom prst="ellipse">
            <a:avLst/>
          </a:prstGeom>
          <a:solidFill>
            <a:srgbClr val="B9A6FF"/>
          </a:solidFill>
          <a:ln>
            <a:solidFill>
              <a:srgbClr val="B9A6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08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147408" y="169164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Propuestas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53048" y="2377440"/>
            <a:ext cx="481568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Poder marcar «sólo en taquilla» desde el Admin, sin tocar el contenido a mano.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foto de cada fiesta pasada ya basta para que la página de fotos no salga vacía.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Poner precio orientativo a cada producto de la tienda para que nadie pregunte por Instagram.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4E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0" y="1325880"/>
            <a:ext cx="3749040" cy="3749040"/>
          </a:xfrm>
          <a:prstGeom prst="ellipse">
            <a:avLst/>
          </a:prstGeom>
          <a:solidFill>
            <a:srgbClr val="0B1830"/>
          </a:solidFill>
          <a:ln w="25400">
            <a:solidFill>
              <a:srgbClr val="2F4A72"/>
            </a:solidFill>
            <a:prstDash val="solid"/>
          </a:ln>
        </p:spPr>
      </p:sp>
      <p:pic>
        <p:nvPicPr>
          <p:cNvPr id="3" name="Image 0" descr="La mascota de BO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9616" y="1783080"/>
            <a:ext cx="2831808" cy="2834640"/>
          </a:xfrm>
          <a:prstGeom prst="rect">
            <a:avLst/>
          </a:prstGeom>
        </p:spPr>
      </p:pic>
      <p:sp>
        <p:nvSpPr>
          <p:cNvPr id="4" name="Número de parte"/>
          <p:cNvSpPr txBox="1"/>
          <p:nvPr/>
        </p:nvSpPr>
        <p:spPr>
          <a:xfrm>
            <a:off x="548640" y="64008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0" dirty="0">
                <a:solidFill>
                  <a:srgbClr val="EC4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2000" dirty="0"/>
          </a:p>
        </p:txBody>
      </p:sp>
      <p:sp>
        <p:nvSpPr>
          <p:cNvPr id="5" name="Título"/>
          <p:cNvSpPr txBox="1"/>
          <p:nvPr/>
        </p:nvSpPr>
        <p:spPr>
          <a:xfrm>
            <a:off x="548640" y="2606040"/>
            <a:ext cx="7315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Carnet BOIA y Ranking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1148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carné de cada BOIERO, con sus sellos de fiesta, y la clasificación de los juegos</a:t>
            </a:r>
            <a:endParaRPr lang="en-US" sz="1800" dirty="0"/>
          </a:p>
        </p:txBody>
      </p:sp>
      <p:sp>
        <p:nvSpPr>
          <p:cNvPr id="7" name="Secciones"/>
          <p:cNvSpPr txBox="1"/>
          <p:nvPr/>
        </p:nvSpPr>
        <p:spPr>
          <a:xfrm>
            <a:off x="548640" y="50292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9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Carnet BOIA   ·   Carnet público   ·   Carnet de artista   ·   Sello de la fiesta   ·   Ranking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4E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548640" y="4114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4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CARNET BOIA Y RANKING  ·  CARNET BOIA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6035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 carné de identidad para cada BOIERO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6035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tarjeta naranja del tamaño de un DNI. Delante: apodo, avatar, rango, puntos, «miembro desde» y un QR que abre su Carnet público. Detrás, como un pasaporte, un sello por cada fiesta.</a:t>
            </a:r>
            <a:endParaRPr lang="en-US" sz="160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Debajo: editar, compartir, sus respuestas a las preguntas de BOIA, insignias, su barco y «Descargar mis datos». Se crea en un momento desde el mar o desde /carnet.</a:t>
            </a:r>
            <a:endParaRPr lang="en-US" sz="1600" dirty="0"/>
          </a:p>
        </p:txBody>
      </p:sp>
      <p:sp>
        <p:nvSpPr>
          <p:cNvPr id="5" name="Destacado"/>
          <p:cNvSpPr txBox="1"/>
          <p:nvPr/>
        </p:nvSpPr>
        <p:spPr>
          <a:xfrm>
            <a:off x="548640" y="4937760"/>
            <a:ext cx="6035040" cy="1051560"/>
          </a:xfrm>
          <a:prstGeom prst="roundRect">
            <a:avLst>
              <a:gd name="adj" fmla="val 10435"/>
            </a:avLst>
          </a:prstGeom>
          <a:solidFill>
            <a:srgbClr val="1A3052"/>
          </a:solidFill>
          <a:ln w="12700">
            <a:solidFill>
              <a:srgbClr val="2F4A72"/>
            </a:solidFill>
          </a:ln>
        </p:spPr>
        <p:txBody>
          <a:bodyPr wrap="square" lIns="127000" tIns="203200" rIns="203200" bIns="12700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 se guarda sólo en este navegador: con cuentas tendrá número de miembro y será de todos.</a:t>
            </a:r>
            <a:endParaRPr lang="en-US" sz="1700" dirty="0"/>
          </a:p>
        </p:txBody>
      </p:sp>
      <p:sp>
        <p:nvSpPr>
          <p:cNvPr id="6" name="Teléfono"/>
          <p:cNvSpPr/>
          <p:nvPr/>
        </p:nvSpPr>
        <p:spPr>
          <a:xfrm>
            <a:off x="7984387" y="411480"/>
            <a:ext cx="2623721" cy="5760720"/>
          </a:xfrm>
          <a:prstGeom prst="roundRect">
            <a:avLst>
              <a:gd name="adj" fmla="val 9758"/>
            </a:avLst>
          </a:prstGeom>
          <a:solidFill>
            <a:srgbClr val="05080F"/>
          </a:solidFill>
          <a:ln w="15875">
            <a:solidFill>
              <a:srgbClr val="2F4A72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021928" y="493776"/>
            <a:ext cx="548640" cy="64008"/>
          </a:xfrm>
          <a:prstGeom prst="roundRect">
            <a:avLst>
              <a:gd name="adj" fmla="val 50000"/>
            </a:avLst>
          </a:prstGeom>
          <a:solidFill>
            <a:srgbClr val="2F4A72"/>
          </a:solidFill>
          <a:ln w="12700">
            <a:solidFill>
              <a:srgbClr val="2F4A72"/>
            </a:solidFill>
            <a:prstDash val="solid"/>
          </a:ln>
        </p:spPr>
      </p:sp>
      <p:pic>
        <p:nvPicPr>
          <p:cNvPr id="8" name="Image 0" descr="Captura de la we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6683" y="630936"/>
            <a:ext cx="2459129" cy="53218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4E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4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CARNET BOIA Y RANKING  ·  CARNET BOIA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Los sellos, el Carnet de otros y el de artista</a:t>
            </a:r>
            <a:endParaRPr lang="en-US" sz="2800" dirty="0"/>
          </a:p>
        </p:txBody>
      </p:sp>
      <p:sp>
        <p:nvSpPr>
          <p:cNvPr id="4" name="Teléfono"/>
          <p:cNvSpPr/>
          <p:nvPr/>
        </p:nvSpPr>
        <p:spPr>
          <a:xfrm>
            <a:off x="2366569" y="1371600"/>
            <a:ext cx="1973024" cy="4352544"/>
          </a:xfrm>
          <a:prstGeom prst="roundRect">
            <a:avLst>
              <a:gd name="adj" fmla="val 12977"/>
            </a:avLst>
          </a:prstGeom>
          <a:solidFill>
            <a:srgbClr val="05080F"/>
          </a:solidFill>
          <a:ln w="15875">
            <a:solidFill>
              <a:srgbClr val="2F4A72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078761" y="1453896"/>
            <a:ext cx="548640" cy="64008"/>
          </a:xfrm>
          <a:prstGeom prst="roundRect">
            <a:avLst>
              <a:gd name="adj" fmla="val 50000"/>
            </a:avLst>
          </a:prstGeom>
          <a:solidFill>
            <a:srgbClr val="2F4A72"/>
          </a:solidFill>
          <a:ln w="12700">
            <a:solidFill>
              <a:srgbClr val="2F4A72"/>
            </a:solidFill>
            <a:prstDash val="solid"/>
          </a:ln>
        </p:spPr>
      </p:sp>
      <p:pic>
        <p:nvPicPr>
          <p:cNvPr id="6" name="Image 0" descr="Captura de la we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8865" y="1591056"/>
            <a:ext cx="1808432" cy="3913632"/>
          </a:xfrm>
          <a:prstGeom prst="rect">
            <a:avLst/>
          </a:prstGeom>
        </p:spPr>
      </p:pic>
      <p:sp>
        <p:nvSpPr>
          <p:cNvPr id="7" name="Pie"/>
          <p:cNvSpPr txBox="1"/>
          <p:nvPr/>
        </p:nvSpPr>
        <p:spPr>
          <a:xfrm>
            <a:off x="2118858" y="5815584"/>
            <a:ext cx="2468447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Detrás: un sello por fiesta</a:t>
            </a:r>
            <a:endParaRPr lang="en-US" sz="1200" dirty="0"/>
          </a:p>
        </p:txBody>
      </p:sp>
      <p:sp>
        <p:nvSpPr>
          <p:cNvPr id="8" name="Teléfono"/>
          <p:cNvSpPr/>
          <p:nvPr/>
        </p:nvSpPr>
        <p:spPr>
          <a:xfrm>
            <a:off x="5109336" y="1371600"/>
            <a:ext cx="1973024" cy="4352544"/>
          </a:xfrm>
          <a:prstGeom prst="roundRect">
            <a:avLst>
              <a:gd name="adj" fmla="val 12977"/>
            </a:avLst>
          </a:prstGeom>
          <a:solidFill>
            <a:srgbClr val="05080F"/>
          </a:solidFill>
          <a:ln w="15875">
            <a:solidFill>
              <a:srgbClr val="2F4A72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21528" y="1453896"/>
            <a:ext cx="548640" cy="64008"/>
          </a:xfrm>
          <a:prstGeom prst="roundRect">
            <a:avLst>
              <a:gd name="adj" fmla="val 50000"/>
            </a:avLst>
          </a:prstGeom>
          <a:solidFill>
            <a:srgbClr val="2F4A72"/>
          </a:solidFill>
          <a:ln w="12700">
            <a:solidFill>
              <a:srgbClr val="2F4A72"/>
            </a:solidFill>
            <a:prstDash val="solid"/>
          </a:ln>
        </p:spPr>
      </p:sp>
      <p:pic>
        <p:nvPicPr>
          <p:cNvPr id="10" name="Image 1" descr="Captura de la we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1632" y="1591056"/>
            <a:ext cx="1808432" cy="3913632"/>
          </a:xfrm>
          <a:prstGeom prst="rect">
            <a:avLst/>
          </a:prstGeom>
        </p:spPr>
      </p:pic>
      <p:sp>
        <p:nvSpPr>
          <p:cNvPr id="11" name="Pie"/>
          <p:cNvSpPr txBox="1"/>
          <p:nvPr/>
        </p:nvSpPr>
        <p:spPr>
          <a:xfrm>
            <a:off x="4861624" y="5815584"/>
            <a:ext cx="2468447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/carnet/…: el Carnet de otro miembro</a:t>
            </a:r>
            <a:endParaRPr lang="en-US" sz="1200" dirty="0"/>
          </a:p>
        </p:txBody>
      </p:sp>
      <p:sp>
        <p:nvSpPr>
          <p:cNvPr id="12" name="Teléfono"/>
          <p:cNvSpPr/>
          <p:nvPr/>
        </p:nvSpPr>
        <p:spPr>
          <a:xfrm>
            <a:off x="7852102" y="1371600"/>
            <a:ext cx="1973024" cy="4352544"/>
          </a:xfrm>
          <a:prstGeom prst="roundRect">
            <a:avLst>
              <a:gd name="adj" fmla="val 12977"/>
            </a:avLst>
          </a:prstGeom>
          <a:solidFill>
            <a:srgbClr val="05080F"/>
          </a:solidFill>
          <a:ln w="15875">
            <a:solidFill>
              <a:srgbClr val="2F4A72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564294" y="1453896"/>
            <a:ext cx="548640" cy="64008"/>
          </a:xfrm>
          <a:prstGeom prst="roundRect">
            <a:avLst>
              <a:gd name="adj" fmla="val 50000"/>
            </a:avLst>
          </a:prstGeom>
          <a:solidFill>
            <a:srgbClr val="2F4A72"/>
          </a:solidFill>
          <a:ln w="12700">
            <a:solidFill>
              <a:srgbClr val="2F4A72"/>
            </a:solidFill>
            <a:prstDash val="solid"/>
          </a:ln>
        </p:spPr>
      </p:sp>
      <p:pic>
        <p:nvPicPr>
          <p:cNvPr id="14" name="Image 2" descr="Captura de la web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4398" y="1591056"/>
            <a:ext cx="1808432" cy="3913632"/>
          </a:xfrm>
          <a:prstGeom prst="rect">
            <a:avLst/>
          </a:prstGeom>
        </p:spPr>
      </p:pic>
      <p:sp>
        <p:nvSpPr>
          <p:cNvPr id="15" name="Pie"/>
          <p:cNvSpPr txBox="1"/>
          <p:nvPr/>
        </p:nvSpPr>
        <p:spPr>
          <a:xfrm>
            <a:off x="7604391" y="5815584"/>
            <a:ext cx="2468447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el enlace de artistas, sello «ARTISTA»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4E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548640" y="4114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4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CARNET BOIA Y RANKING  ·  SELLO DE LA FIESTA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6035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QR de la fiesta y lo que traen las cuentas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60350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fiesta hay un QR (puerta y barra): con la cámara del móvil se abre /sello y el sello cae en tu Carnet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Sólo vale durante la fiesta, uno por persona, y suma puntos (hoy 50, de muestra)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cuentas: entrar con el email (un código de 6 cifras) y «Escanear sello» dentro del Carnet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cuentas: número de miembro, Carnet visible para todos, cerrar sesión y borrar la cuenta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«Descargar mis datos» ya funciona: un archivo con lo tuyo y nada de nadie más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Hoy, sin cuentas, /sello explica que hace falta la versión con cuentas</a:t>
            </a:r>
            <a:endParaRPr lang="en-US" sz="1500" dirty="0"/>
          </a:p>
        </p:txBody>
      </p:sp>
      <p:sp>
        <p:nvSpPr>
          <p:cNvPr id="5" name="Teléfono"/>
          <p:cNvSpPr/>
          <p:nvPr/>
        </p:nvSpPr>
        <p:spPr>
          <a:xfrm>
            <a:off x="7984387" y="411480"/>
            <a:ext cx="2623721" cy="5760720"/>
          </a:xfrm>
          <a:prstGeom prst="roundRect">
            <a:avLst>
              <a:gd name="adj" fmla="val 9758"/>
            </a:avLst>
          </a:prstGeom>
          <a:solidFill>
            <a:srgbClr val="05080F"/>
          </a:solidFill>
          <a:ln w="15875">
            <a:solidFill>
              <a:srgbClr val="2F4A72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021928" y="493776"/>
            <a:ext cx="548640" cy="64008"/>
          </a:xfrm>
          <a:prstGeom prst="roundRect">
            <a:avLst>
              <a:gd name="adj" fmla="val 50000"/>
            </a:avLst>
          </a:prstGeom>
          <a:solidFill>
            <a:srgbClr val="2F4A72"/>
          </a:solidFill>
          <a:ln w="12700">
            <a:solidFill>
              <a:srgbClr val="2F4A72"/>
            </a:solidFill>
            <a:prstDash val="solid"/>
          </a:ln>
        </p:spPr>
      </p:sp>
      <p:pic>
        <p:nvPicPr>
          <p:cNvPr id="7" name="Image 0" descr="Captura de la we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6683" y="630936"/>
            <a:ext cx="2459129" cy="53218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4E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548640" y="4114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4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CARNET BOIA Y RANKING  ·  RANKING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6035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Ranking: cuatro tablas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60350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/ranking (menú de la web) y en el menú del mar: el mismo panel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Carrera: los mejores tiempos de Los Rápidos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Cañón: una tabla por jefe final (Fantasma y Kraken)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Castillo: 9 tablas, por dificultad (Tranquila, Normal, Tormenta) y duración (5, 7 y 10 min)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Puntos: los de siempre; cuentan los puntos, nunca las monedas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fila abre el Carnet de esa persona; «Descubrir a un BOIERO» abre uno al azar</a:t>
            </a:r>
            <a:endParaRPr lang="en-US" sz="1500" dirty="0"/>
          </a:p>
        </p:txBody>
      </p:sp>
      <p:sp>
        <p:nvSpPr>
          <p:cNvPr id="5" name="Teléfono"/>
          <p:cNvSpPr/>
          <p:nvPr/>
        </p:nvSpPr>
        <p:spPr>
          <a:xfrm>
            <a:off x="7984387" y="411480"/>
            <a:ext cx="2623721" cy="5760720"/>
          </a:xfrm>
          <a:prstGeom prst="roundRect">
            <a:avLst>
              <a:gd name="adj" fmla="val 9758"/>
            </a:avLst>
          </a:prstGeom>
          <a:solidFill>
            <a:srgbClr val="05080F"/>
          </a:solidFill>
          <a:ln w="15875">
            <a:solidFill>
              <a:srgbClr val="2F4A72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021928" y="493776"/>
            <a:ext cx="548640" cy="64008"/>
          </a:xfrm>
          <a:prstGeom prst="roundRect">
            <a:avLst>
              <a:gd name="adj" fmla="val 50000"/>
            </a:avLst>
          </a:prstGeom>
          <a:solidFill>
            <a:srgbClr val="2F4A72"/>
          </a:solidFill>
          <a:ln w="12700">
            <a:solidFill>
              <a:srgbClr val="2F4A72"/>
            </a:solidFill>
            <a:prstDash val="solid"/>
          </a:ln>
        </p:spPr>
      </p:sp>
      <p:pic>
        <p:nvPicPr>
          <p:cNvPr id="7" name="Image 0" descr="Captura de la we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6683" y="630936"/>
            <a:ext cx="2459129" cy="53218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4E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4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CARNET BOIA Y RANKING  ·  RANKING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Cañón, Castillo y Puntos</a:t>
            </a:r>
            <a:endParaRPr lang="en-US" sz="2800" dirty="0"/>
          </a:p>
        </p:txBody>
      </p:sp>
      <p:sp>
        <p:nvSpPr>
          <p:cNvPr id="4" name="Teléfono"/>
          <p:cNvSpPr/>
          <p:nvPr/>
        </p:nvSpPr>
        <p:spPr>
          <a:xfrm>
            <a:off x="2366569" y="1371600"/>
            <a:ext cx="1973024" cy="4352544"/>
          </a:xfrm>
          <a:prstGeom prst="roundRect">
            <a:avLst>
              <a:gd name="adj" fmla="val 12977"/>
            </a:avLst>
          </a:prstGeom>
          <a:solidFill>
            <a:srgbClr val="05080F"/>
          </a:solidFill>
          <a:ln w="15875">
            <a:solidFill>
              <a:srgbClr val="2F4A72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078761" y="1453896"/>
            <a:ext cx="548640" cy="64008"/>
          </a:xfrm>
          <a:prstGeom prst="roundRect">
            <a:avLst>
              <a:gd name="adj" fmla="val 50000"/>
            </a:avLst>
          </a:prstGeom>
          <a:solidFill>
            <a:srgbClr val="2F4A72"/>
          </a:solidFill>
          <a:ln w="12700">
            <a:solidFill>
              <a:srgbClr val="2F4A72"/>
            </a:solidFill>
            <a:prstDash val="solid"/>
          </a:ln>
        </p:spPr>
      </p:sp>
      <p:pic>
        <p:nvPicPr>
          <p:cNvPr id="6" name="Image 0" descr="Captura de la we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8865" y="1591056"/>
            <a:ext cx="1808432" cy="3913632"/>
          </a:xfrm>
          <a:prstGeom prst="rect">
            <a:avLst/>
          </a:prstGeom>
        </p:spPr>
      </p:pic>
      <p:sp>
        <p:nvSpPr>
          <p:cNvPr id="7" name="Pie"/>
          <p:cNvSpPr txBox="1"/>
          <p:nvPr/>
        </p:nvSpPr>
        <p:spPr>
          <a:xfrm>
            <a:off x="2118858" y="5815584"/>
            <a:ext cx="2468447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Cañón: elige el jefe final</a:t>
            </a:r>
            <a:endParaRPr lang="en-US" sz="1200" dirty="0"/>
          </a:p>
        </p:txBody>
      </p:sp>
      <p:sp>
        <p:nvSpPr>
          <p:cNvPr id="8" name="Teléfono"/>
          <p:cNvSpPr/>
          <p:nvPr/>
        </p:nvSpPr>
        <p:spPr>
          <a:xfrm>
            <a:off x="5109336" y="1371600"/>
            <a:ext cx="1973024" cy="4352544"/>
          </a:xfrm>
          <a:prstGeom prst="roundRect">
            <a:avLst>
              <a:gd name="adj" fmla="val 12977"/>
            </a:avLst>
          </a:prstGeom>
          <a:solidFill>
            <a:srgbClr val="05080F"/>
          </a:solidFill>
          <a:ln w="15875">
            <a:solidFill>
              <a:srgbClr val="2F4A72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21528" y="1453896"/>
            <a:ext cx="548640" cy="64008"/>
          </a:xfrm>
          <a:prstGeom prst="roundRect">
            <a:avLst>
              <a:gd name="adj" fmla="val 50000"/>
            </a:avLst>
          </a:prstGeom>
          <a:solidFill>
            <a:srgbClr val="2F4A72"/>
          </a:solidFill>
          <a:ln w="12700">
            <a:solidFill>
              <a:srgbClr val="2F4A72"/>
            </a:solidFill>
            <a:prstDash val="solid"/>
          </a:ln>
        </p:spPr>
      </p:sp>
      <p:pic>
        <p:nvPicPr>
          <p:cNvPr id="10" name="Image 1" descr="Captura de la we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1632" y="1591056"/>
            <a:ext cx="1808432" cy="3913632"/>
          </a:xfrm>
          <a:prstGeom prst="rect">
            <a:avLst/>
          </a:prstGeom>
        </p:spPr>
      </p:pic>
      <p:sp>
        <p:nvSpPr>
          <p:cNvPr id="11" name="Pie"/>
          <p:cNvSpPr txBox="1"/>
          <p:nvPr/>
        </p:nvSpPr>
        <p:spPr>
          <a:xfrm>
            <a:off x="4861624" y="5815584"/>
            <a:ext cx="2468447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Castillo: 9 tablas en el desplegable</a:t>
            </a:r>
            <a:endParaRPr lang="en-US" sz="1200" dirty="0"/>
          </a:p>
        </p:txBody>
      </p:sp>
      <p:sp>
        <p:nvSpPr>
          <p:cNvPr id="12" name="Teléfono"/>
          <p:cNvSpPr/>
          <p:nvPr/>
        </p:nvSpPr>
        <p:spPr>
          <a:xfrm>
            <a:off x="7852102" y="1371600"/>
            <a:ext cx="1973024" cy="4352544"/>
          </a:xfrm>
          <a:prstGeom prst="roundRect">
            <a:avLst>
              <a:gd name="adj" fmla="val 12977"/>
            </a:avLst>
          </a:prstGeom>
          <a:solidFill>
            <a:srgbClr val="05080F"/>
          </a:solidFill>
          <a:ln w="15875">
            <a:solidFill>
              <a:srgbClr val="2F4A72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564294" y="1453896"/>
            <a:ext cx="548640" cy="64008"/>
          </a:xfrm>
          <a:prstGeom prst="roundRect">
            <a:avLst>
              <a:gd name="adj" fmla="val 50000"/>
            </a:avLst>
          </a:prstGeom>
          <a:solidFill>
            <a:srgbClr val="2F4A72"/>
          </a:solidFill>
          <a:ln w="12700">
            <a:solidFill>
              <a:srgbClr val="2F4A72"/>
            </a:solidFill>
            <a:prstDash val="solid"/>
          </a:ln>
        </p:spPr>
      </p:sp>
      <p:pic>
        <p:nvPicPr>
          <p:cNvPr id="14" name="Image 2" descr="Captura de la web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4398" y="1591056"/>
            <a:ext cx="1808432" cy="3913632"/>
          </a:xfrm>
          <a:prstGeom prst="rect">
            <a:avLst/>
          </a:prstGeom>
        </p:spPr>
      </p:pic>
      <p:sp>
        <p:nvSpPr>
          <p:cNvPr id="15" name="Pie"/>
          <p:cNvSpPr txBox="1"/>
          <p:nvPr/>
        </p:nvSpPr>
        <p:spPr>
          <a:xfrm>
            <a:off x="7604391" y="5815584"/>
            <a:ext cx="2468447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Puntos: la tabla de siempre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4E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4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CARNET BOIA Y RANKING  ·  CARNET BOIA Y RANKING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Qué falta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necesarios para salir   ·   2 pueden esperar</a:t>
            </a:r>
            <a:endParaRPr lang="en-US" sz="1300" dirty="0"/>
          </a:p>
        </p:txBody>
      </p:sp>
      <p:sp>
        <p:nvSpPr>
          <p:cNvPr id="5" name="Fila"/>
          <p:cNvSpPr/>
          <p:nvPr/>
        </p:nvSpPr>
        <p:spPr>
          <a:xfrm>
            <a:off x="548640" y="1737360"/>
            <a:ext cx="11094415" cy="640080"/>
          </a:xfrm>
          <a:prstGeom prst="roundRect">
            <a:avLst>
              <a:gd name="adj" fmla="val 14286"/>
            </a:avLst>
          </a:prstGeom>
          <a:solidFill>
            <a:srgbClr val="1A3052"/>
          </a:solidFill>
          <a:ln w="12700">
            <a:solidFill>
              <a:srgbClr val="1A3052"/>
            </a:solidFill>
            <a:prstDash val="solid"/>
          </a:ln>
        </p:spPr>
      </p:sp>
      <p:sp>
        <p:nvSpPr>
          <p:cNvPr id="6" name="Necesario para salir"/>
          <p:cNvSpPr txBox="1"/>
          <p:nvPr/>
        </p:nvSpPr>
        <p:spPr>
          <a:xfrm>
            <a:off x="731520" y="1883664"/>
            <a:ext cx="2148840" cy="347472"/>
          </a:xfrm>
          <a:prstGeom prst="roundRect">
            <a:avLst>
              <a:gd name="adj" fmla="val 50000"/>
            </a:avLst>
          </a:prstGeom>
          <a:solidFill>
            <a:srgbClr val="EC4F24"/>
          </a:solidFill>
          <a:ln w="19050">
            <a:solidFill>
              <a:srgbClr val="EC4F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Necesario para salir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154680" y="1737360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Conectar las cuentas de usuario en la web publicada: sellos por QR, Carnet visible y ranking de todos</a:t>
            </a:r>
            <a:endParaRPr lang="en-US" sz="1500" dirty="0"/>
          </a:p>
        </p:txBody>
      </p:sp>
      <p:sp>
        <p:nvSpPr>
          <p:cNvPr id="8" name="Quién"/>
          <p:cNvSpPr txBox="1"/>
          <p:nvPr/>
        </p:nvSpPr>
        <p:spPr>
          <a:xfrm>
            <a:off x="9905695" y="17373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</a:t>
            </a:r>
            <a:endParaRPr lang="en-US" sz="1200" dirty="0"/>
          </a:p>
        </p:txBody>
      </p:sp>
      <p:sp>
        <p:nvSpPr>
          <p:cNvPr id="9" name="Fila"/>
          <p:cNvSpPr/>
          <p:nvPr/>
        </p:nvSpPr>
        <p:spPr>
          <a:xfrm>
            <a:off x="548640" y="2505456"/>
            <a:ext cx="11094415" cy="640080"/>
          </a:xfrm>
          <a:prstGeom prst="roundRect">
            <a:avLst>
              <a:gd name="adj" fmla="val 14286"/>
            </a:avLst>
          </a:prstGeom>
          <a:solidFill>
            <a:srgbClr val="1A3052"/>
          </a:solidFill>
          <a:ln w="12700">
            <a:solidFill>
              <a:srgbClr val="1A3052"/>
            </a:solidFill>
            <a:prstDash val="solid"/>
          </a:ln>
        </p:spPr>
      </p:sp>
      <p:sp>
        <p:nvSpPr>
          <p:cNvPr id="10" name="Necesario para salir"/>
          <p:cNvSpPr txBox="1"/>
          <p:nvPr/>
        </p:nvSpPr>
        <p:spPr>
          <a:xfrm>
            <a:off x="731520" y="2651760"/>
            <a:ext cx="2148840" cy="347472"/>
          </a:xfrm>
          <a:prstGeom prst="roundRect">
            <a:avLst>
              <a:gd name="adj" fmla="val 50000"/>
            </a:avLst>
          </a:prstGeom>
          <a:solidFill>
            <a:srgbClr val="EC4F24"/>
          </a:solidFill>
          <a:ln w="19050">
            <a:solidFill>
              <a:srgbClr val="EC4F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Necesario para salir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154680" y="2505456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 final del Carnet y del sello de cada fiesta (hoy la tarjeta naranja es de muestra)</a:t>
            </a:r>
            <a:endParaRPr lang="en-US" sz="1500" dirty="0"/>
          </a:p>
        </p:txBody>
      </p:sp>
      <p:sp>
        <p:nvSpPr>
          <p:cNvPr id="12" name="Quién"/>
          <p:cNvSpPr txBox="1"/>
          <p:nvPr/>
        </p:nvSpPr>
        <p:spPr>
          <a:xfrm>
            <a:off x="9905695" y="2505456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Álvaro</a:t>
            </a:r>
            <a:endParaRPr lang="en-US" sz="1200" dirty="0"/>
          </a:p>
        </p:txBody>
      </p:sp>
      <p:sp>
        <p:nvSpPr>
          <p:cNvPr id="13" name="Fila"/>
          <p:cNvSpPr/>
          <p:nvPr/>
        </p:nvSpPr>
        <p:spPr>
          <a:xfrm>
            <a:off x="548640" y="3273552"/>
            <a:ext cx="11094415" cy="640080"/>
          </a:xfrm>
          <a:prstGeom prst="roundRect">
            <a:avLst>
              <a:gd name="adj" fmla="val 14286"/>
            </a:avLst>
          </a:prstGeom>
          <a:solidFill>
            <a:srgbClr val="1A3052"/>
          </a:solidFill>
          <a:ln w="12700">
            <a:solidFill>
              <a:srgbClr val="1A3052"/>
            </a:solidFill>
            <a:prstDash val="solid"/>
          </a:ln>
        </p:spPr>
      </p:sp>
      <p:sp>
        <p:nvSpPr>
          <p:cNvPr id="14" name="Necesario para salir"/>
          <p:cNvSpPr txBox="1"/>
          <p:nvPr/>
        </p:nvSpPr>
        <p:spPr>
          <a:xfrm>
            <a:off x="731520" y="3419856"/>
            <a:ext cx="2148840" cy="347472"/>
          </a:xfrm>
          <a:prstGeom prst="roundRect">
            <a:avLst>
              <a:gd name="adj" fmla="val 50000"/>
            </a:avLst>
          </a:prstGeom>
          <a:solidFill>
            <a:srgbClr val="EC4F24"/>
          </a:solidFill>
          <a:ln w="19050">
            <a:solidFill>
              <a:srgbClr val="EC4F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Necesario para salir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154680" y="3273552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Puntos de cada cosa, nombres y cifras de los rangos y límites contra trampas</a:t>
            </a:r>
            <a:endParaRPr lang="en-US" sz="1500" dirty="0"/>
          </a:p>
        </p:txBody>
      </p:sp>
      <p:sp>
        <p:nvSpPr>
          <p:cNvPr id="16" name="Quién"/>
          <p:cNvSpPr txBox="1"/>
          <p:nvPr/>
        </p:nvSpPr>
        <p:spPr>
          <a:xfrm>
            <a:off x="9905695" y="327355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Álvaro</a:t>
            </a:r>
            <a:endParaRPr lang="en-US" sz="1200" dirty="0"/>
          </a:p>
        </p:txBody>
      </p:sp>
      <p:sp>
        <p:nvSpPr>
          <p:cNvPr id="17" name="Fila"/>
          <p:cNvSpPr/>
          <p:nvPr/>
        </p:nvSpPr>
        <p:spPr>
          <a:xfrm>
            <a:off x="548640" y="4041648"/>
            <a:ext cx="11094415" cy="640080"/>
          </a:xfrm>
          <a:prstGeom prst="roundRect">
            <a:avLst>
              <a:gd name="adj" fmla="val 14286"/>
            </a:avLst>
          </a:prstGeom>
          <a:solidFill>
            <a:srgbClr val="1A3052"/>
          </a:solidFill>
          <a:ln w="12700">
            <a:solidFill>
              <a:srgbClr val="1A3052"/>
            </a:solidFill>
            <a:prstDash val="solid"/>
          </a:ln>
        </p:spPr>
      </p:sp>
      <p:sp>
        <p:nvSpPr>
          <p:cNvPr id="18" name="Necesario para salir"/>
          <p:cNvSpPr txBox="1"/>
          <p:nvPr/>
        </p:nvSpPr>
        <p:spPr>
          <a:xfrm>
            <a:off x="731520" y="4187952"/>
            <a:ext cx="2148840" cy="347472"/>
          </a:xfrm>
          <a:prstGeom prst="roundRect">
            <a:avLst>
              <a:gd name="adj" fmla="val 50000"/>
            </a:avLst>
          </a:prstGeom>
          <a:solidFill>
            <a:srgbClr val="EC4F24"/>
          </a:solidFill>
          <a:ln w="19050">
            <a:solidFill>
              <a:srgbClr val="EC4F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Necesario para salir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154680" y="4041648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Aprobar los textos del Carnet, del sello y del ranking, y la privacidad con cuentas</a:t>
            </a:r>
            <a:endParaRPr lang="en-US" sz="1500" dirty="0"/>
          </a:p>
        </p:txBody>
      </p:sp>
      <p:sp>
        <p:nvSpPr>
          <p:cNvPr id="20" name="Quién"/>
          <p:cNvSpPr txBox="1"/>
          <p:nvPr/>
        </p:nvSpPr>
        <p:spPr>
          <a:xfrm>
            <a:off x="9905695" y="404164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Álvaro</a:t>
            </a:r>
            <a:endParaRPr lang="en-US" sz="1200" dirty="0"/>
          </a:p>
        </p:txBody>
      </p:sp>
      <p:sp>
        <p:nvSpPr>
          <p:cNvPr id="21" name="Fila"/>
          <p:cNvSpPr/>
          <p:nvPr/>
        </p:nvSpPr>
        <p:spPr>
          <a:xfrm>
            <a:off x="548640" y="4809744"/>
            <a:ext cx="11094415" cy="640080"/>
          </a:xfrm>
          <a:prstGeom prst="roundRect">
            <a:avLst>
              <a:gd name="adj" fmla="val 14286"/>
            </a:avLst>
          </a:prstGeom>
          <a:solidFill>
            <a:srgbClr val="1A3052"/>
          </a:solidFill>
          <a:ln w="12700">
            <a:solidFill>
              <a:srgbClr val="1A3052"/>
            </a:solidFill>
            <a:prstDash val="solid"/>
          </a:ln>
        </p:spPr>
      </p:sp>
      <p:sp>
        <p:nvSpPr>
          <p:cNvPr id="22" name="Puede esperar"/>
          <p:cNvSpPr txBox="1"/>
          <p:nvPr/>
        </p:nvSpPr>
        <p:spPr>
          <a:xfrm>
            <a:off x="731520" y="4956048"/>
            <a:ext cx="2148840" cy="347472"/>
          </a:xfrm>
          <a:prstGeom prst="roundRect">
            <a:avLst>
              <a:gd name="adj" fmla="val 50000"/>
            </a:avLst>
          </a:prstGeom>
          <a:solidFill>
            <a:srgbClr val="0B1830"/>
          </a:solidFill>
          <a:ln w="19050">
            <a:solidFill>
              <a:srgbClr val="B9A6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Puede esperar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154680" y="4809744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Decidir qué se manda a quien acepta noticias, cada cuánto y quién lo lleva</a:t>
            </a:r>
            <a:endParaRPr lang="en-US" sz="1500" dirty="0"/>
          </a:p>
        </p:txBody>
      </p:sp>
      <p:sp>
        <p:nvSpPr>
          <p:cNvPr id="24" name="Quién"/>
          <p:cNvSpPr txBox="1"/>
          <p:nvPr/>
        </p:nvSpPr>
        <p:spPr>
          <a:xfrm>
            <a:off x="9905695" y="4809744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Álvaro</a:t>
            </a:r>
            <a:endParaRPr lang="en-US" sz="1200" dirty="0"/>
          </a:p>
        </p:txBody>
      </p:sp>
      <p:sp>
        <p:nvSpPr>
          <p:cNvPr id="25" name="Fila"/>
          <p:cNvSpPr/>
          <p:nvPr/>
        </p:nvSpPr>
        <p:spPr>
          <a:xfrm>
            <a:off x="548640" y="5577840"/>
            <a:ext cx="11094415" cy="640080"/>
          </a:xfrm>
          <a:prstGeom prst="roundRect">
            <a:avLst>
              <a:gd name="adj" fmla="val 14286"/>
            </a:avLst>
          </a:prstGeom>
          <a:solidFill>
            <a:srgbClr val="1A3052"/>
          </a:solidFill>
          <a:ln w="12700">
            <a:solidFill>
              <a:srgbClr val="1A3052"/>
            </a:solidFill>
            <a:prstDash val="solid"/>
          </a:ln>
        </p:spPr>
      </p:sp>
      <p:sp>
        <p:nvSpPr>
          <p:cNvPr id="26" name="Puede esperar"/>
          <p:cNvSpPr txBox="1"/>
          <p:nvPr/>
        </p:nvSpPr>
        <p:spPr>
          <a:xfrm>
            <a:off x="731520" y="5724144"/>
            <a:ext cx="2148840" cy="347472"/>
          </a:xfrm>
          <a:prstGeom prst="roundRect">
            <a:avLst>
              <a:gd name="adj" fmla="val 50000"/>
            </a:avLst>
          </a:prstGeom>
          <a:solidFill>
            <a:srgbClr val="0B1830"/>
          </a:solidFill>
          <a:ln w="19050">
            <a:solidFill>
              <a:srgbClr val="B9A6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Puede esperar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3154680" y="5577840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Decidir qué es una temporada para abrir su ranking</a:t>
            </a:r>
            <a:endParaRPr lang="en-US" sz="1500" dirty="0"/>
          </a:p>
        </p:txBody>
      </p:sp>
      <p:sp>
        <p:nvSpPr>
          <p:cNvPr id="28" name="Quién"/>
          <p:cNvSpPr txBox="1"/>
          <p:nvPr/>
        </p:nvSpPr>
        <p:spPr>
          <a:xfrm>
            <a:off x="9905695" y="55778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4E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4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CARNET BOIA Y RANKING  ·  CARNET BOIA Y RANKING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Preguntas y propuestas</a:t>
            </a:r>
            <a:endParaRPr lang="en-US" sz="2800" dirty="0"/>
          </a:p>
        </p:txBody>
      </p:sp>
      <p:sp>
        <p:nvSpPr>
          <p:cNvPr id="4" name="Preguntas"/>
          <p:cNvSpPr/>
          <p:nvPr/>
        </p:nvSpPr>
        <p:spPr>
          <a:xfrm>
            <a:off x="548640" y="1417320"/>
            <a:ext cx="5364328" cy="4800600"/>
          </a:xfrm>
          <a:prstGeom prst="roundRect">
            <a:avLst>
              <a:gd name="adj" fmla="val 2667"/>
            </a:avLst>
          </a:prstGeom>
          <a:solidFill>
            <a:srgbClr val="1A3052"/>
          </a:solidFill>
          <a:ln w="12700">
            <a:solidFill>
              <a:srgbClr val="2F4A7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457200" cy="457200"/>
          </a:xfrm>
          <a:prstGeom prst="ellipse">
            <a:avLst/>
          </a:prstGeom>
          <a:solidFill>
            <a:srgbClr val="EC4F24"/>
          </a:solidFill>
          <a:ln>
            <a:solidFill>
              <a:srgbClr val="EC4F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9164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Preguntas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481568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¿Halloween (31 oct) sale ya con cuentas y sello por QR, o con la versión de prueba?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¿Cuántos puntos vale cada cosa y cómo se llaman los rangos (hoy Grumete… Capitana de la fiesta)?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¿Quién diseña el Carnet definitivo y el sello de cada fiesta?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hacemos con los emails de quien acepta noticias, y quién lo lleva?</a:t>
            </a:r>
            <a:endParaRPr lang="en-US" sz="1500" dirty="0"/>
          </a:p>
        </p:txBody>
      </p:sp>
      <p:sp>
        <p:nvSpPr>
          <p:cNvPr id="8" name="Propuestas"/>
          <p:cNvSpPr/>
          <p:nvPr/>
        </p:nvSpPr>
        <p:spPr>
          <a:xfrm>
            <a:off x="6278728" y="1417320"/>
            <a:ext cx="5364328" cy="4800600"/>
          </a:xfrm>
          <a:prstGeom prst="roundRect">
            <a:avLst>
              <a:gd name="adj" fmla="val 2667"/>
            </a:avLst>
          </a:prstGeom>
          <a:solidFill>
            <a:srgbClr val="1A3052"/>
          </a:solidFill>
          <a:ln w="12700">
            <a:solidFill>
              <a:srgbClr val="2F4A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53048" y="1691640"/>
            <a:ext cx="457200" cy="457200"/>
          </a:xfrm>
          <a:prstGeom prst="ellipse">
            <a:avLst/>
          </a:prstGeom>
          <a:solidFill>
            <a:srgbClr val="B9A6FF"/>
          </a:solidFill>
          <a:ln>
            <a:solidFill>
              <a:srgbClr val="B9A6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08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147408" y="169164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Propuestas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53048" y="2377440"/>
            <a:ext cx="481568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cartel «Sella tu Carnet» con el QR en la puerta y en la barra de cada fiesta.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Pedir el Carnet en el móvil para los 2 € de taquilla: ya lleva apodo y QR.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premio para el primero de cada tabla al cerrar la temporada (p. ej. una entrada).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4E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0" y="1325880"/>
            <a:ext cx="3749040" cy="3749040"/>
          </a:xfrm>
          <a:prstGeom prst="ellipse">
            <a:avLst/>
          </a:prstGeom>
          <a:solidFill>
            <a:srgbClr val="0B1830"/>
          </a:solidFill>
          <a:ln w="25400">
            <a:solidFill>
              <a:srgbClr val="2F4A72"/>
            </a:solidFill>
            <a:prstDash val="solid"/>
          </a:ln>
        </p:spPr>
      </p:sp>
      <p:pic>
        <p:nvPicPr>
          <p:cNvPr id="3" name="Image 0" descr="La mascota de BO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9616" y="1783080"/>
            <a:ext cx="2831808" cy="2834640"/>
          </a:xfrm>
          <a:prstGeom prst="rect">
            <a:avLst/>
          </a:prstGeom>
        </p:spPr>
      </p:pic>
      <p:sp>
        <p:nvSpPr>
          <p:cNvPr id="4" name="Número de parte"/>
          <p:cNvSpPr txBox="1"/>
          <p:nvPr/>
        </p:nvSpPr>
        <p:spPr>
          <a:xfrm>
            <a:off x="548640" y="64008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0" dirty="0">
                <a:solidFill>
                  <a:srgbClr val="EC4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2000" dirty="0"/>
          </a:p>
        </p:txBody>
      </p:sp>
      <p:sp>
        <p:nvSpPr>
          <p:cNvPr id="5" name="Título"/>
          <p:cNvSpPr txBox="1"/>
          <p:nvPr/>
        </p:nvSpPr>
        <p:spPr>
          <a:xfrm>
            <a:off x="548640" y="2606040"/>
            <a:ext cx="7315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océano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1148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mundo en 3D que se recorre en barco: islas, personajes, secretos y descuentos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4E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4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EL OCÉANO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Pendiente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69494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 parte está por escribir: la escribe la tarea T208.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0" y="1828800"/>
            <a:ext cx="3383280" cy="3383280"/>
          </a:xfrm>
          <a:prstGeom prst="ellipse">
            <a:avLst/>
          </a:prstGeom>
          <a:solidFill>
            <a:srgbClr val="07101F"/>
          </a:solidFill>
          <a:ln w="25400">
            <a:solidFill>
              <a:srgbClr val="2F4A72"/>
            </a:solidFill>
            <a:prstDash val="solid"/>
          </a:ln>
        </p:spPr>
      </p:sp>
      <p:pic>
        <p:nvPicPr>
          <p:cNvPr id="6" name="Image 0" descr="La mascota de BO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2359" y="2240280"/>
            <a:ext cx="2557762" cy="2560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4E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0" y="1325880"/>
            <a:ext cx="3749040" cy="3749040"/>
          </a:xfrm>
          <a:prstGeom prst="ellipse">
            <a:avLst/>
          </a:prstGeom>
          <a:solidFill>
            <a:srgbClr val="0B1830"/>
          </a:solidFill>
          <a:ln w="25400">
            <a:solidFill>
              <a:srgbClr val="2F4A72"/>
            </a:solidFill>
            <a:prstDash val="solid"/>
          </a:ln>
        </p:spPr>
      </p:sp>
      <p:pic>
        <p:nvPicPr>
          <p:cNvPr id="3" name="Image 0" descr="La mascota de BO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9616" y="1783080"/>
            <a:ext cx="2831808" cy="2834640"/>
          </a:xfrm>
          <a:prstGeom prst="rect">
            <a:avLst/>
          </a:prstGeom>
        </p:spPr>
      </p:pic>
      <p:sp>
        <p:nvSpPr>
          <p:cNvPr id="4" name="Número de parte"/>
          <p:cNvSpPr txBox="1"/>
          <p:nvPr/>
        </p:nvSpPr>
        <p:spPr>
          <a:xfrm>
            <a:off x="548640" y="64008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0" dirty="0">
                <a:solidFill>
                  <a:srgbClr val="EC4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2000" dirty="0"/>
          </a:p>
        </p:txBody>
      </p:sp>
      <p:sp>
        <p:nvSpPr>
          <p:cNvPr id="5" name="Título"/>
          <p:cNvSpPr txBox="1"/>
          <p:nvPr/>
        </p:nvSpPr>
        <p:spPr>
          <a:xfrm>
            <a:off x="548640" y="2606040"/>
            <a:ext cx="7315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Minijuegos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1148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juegos dentro del mar: una carrera, una noche de supervivencia y una defensa</a:t>
            </a:r>
            <a:endParaRPr lang="en-US" sz="1800" dirty="0"/>
          </a:p>
        </p:txBody>
      </p:sp>
      <p:sp>
        <p:nvSpPr>
          <p:cNvPr id="7" name="Secciones"/>
          <p:cNvSpPr txBox="1"/>
          <p:nvPr/>
        </p:nvSpPr>
        <p:spPr>
          <a:xfrm>
            <a:off x="548640" y="50292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9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Rápidos   ·   Cañón «Que no pare la música»   ·   Defensa del Castillo   ·   Cómo se llega y qué premia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4E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548640" y="4114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4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MINIJUEGOS  ·  LOS RÁPIDOS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6035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Una carrera de tres vueltas por el mar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6035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circuito marcado con 9 boias numeradas por el mapa. Al llegar a la salida, una tarjeta explica la carrera y pregunta; con «Empezar» hay semáforo y cuenta atrás.</a:t>
            </a:r>
            <a:endParaRPr lang="en-US" sz="160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vueltas pasando por las boias en orden, con flechas en el agua que impulsan y rampas que hacen saltar. Si te saltas una boia, la vuelta no cuenta; si te sales del circuito más de 5 s, se acaba.</a:t>
            </a:r>
            <a:endParaRPr lang="en-US" sz="1600" dirty="0"/>
          </a:p>
        </p:txBody>
      </p:sp>
      <p:sp>
        <p:nvSpPr>
          <p:cNvPr id="5" name="Destacado"/>
          <p:cNvSpPr txBox="1"/>
          <p:nvPr/>
        </p:nvSpPr>
        <p:spPr>
          <a:xfrm>
            <a:off x="548640" y="4937760"/>
            <a:ext cx="6035040" cy="1051560"/>
          </a:xfrm>
          <a:prstGeom prst="roundRect">
            <a:avLst>
              <a:gd name="adj" fmla="val 10435"/>
            </a:avLst>
          </a:prstGeom>
          <a:solidFill>
            <a:srgbClr val="1A3052"/>
          </a:solidFill>
          <a:ln w="12700">
            <a:solidFill>
              <a:srgbClr val="2F4A72"/>
            </a:solidFill>
          </a:ln>
        </p:spPr>
        <p:txBody>
          <a:bodyPr wrap="square" lIns="127000" tIns="203200" rIns="203200" bIns="12700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carrera el barco corre más (22 nudos en vez de 15) y se quitan las líneas guía.</a:t>
            </a:r>
            <a:endParaRPr lang="en-US" sz="1700" dirty="0"/>
          </a:p>
        </p:txBody>
      </p:sp>
      <p:sp>
        <p:nvSpPr>
          <p:cNvPr id="6" name="Teléfono"/>
          <p:cNvSpPr/>
          <p:nvPr/>
        </p:nvSpPr>
        <p:spPr>
          <a:xfrm>
            <a:off x="7984387" y="411480"/>
            <a:ext cx="2623721" cy="5760720"/>
          </a:xfrm>
          <a:prstGeom prst="roundRect">
            <a:avLst>
              <a:gd name="adj" fmla="val 9758"/>
            </a:avLst>
          </a:prstGeom>
          <a:solidFill>
            <a:srgbClr val="05080F"/>
          </a:solidFill>
          <a:ln w="15875">
            <a:solidFill>
              <a:srgbClr val="2F4A72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021928" y="493776"/>
            <a:ext cx="548640" cy="64008"/>
          </a:xfrm>
          <a:prstGeom prst="roundRect">
            <a:avLst>
              <a:gd name="adj" fmla="val 50000"/>
            </a:avLst>
          </a:prstGeom>
          <a:solidFill>
            <a:srgbClr val="2F4A72"/>
          </a:solidFill>
          <a:ln w="12700">
            <a:solidFill>
              <a:srgbClr val="2F4A72"/>
            </a:solidFill>
            <a:prstDash val="solid"/>
          </a:ln>
        </p:spPr>
      </p:sp>
      <p:pic>
        <p:nvPicPr>
          <p:cNvPr id="8" name="Image 0" descr="Captura de la we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6683" y="630936"/>
            <a:ext cx="2459129" cy="53218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4E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4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MINIJUEGOS  ·  LOS RÁPIDOS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 carrera y en la meta</a:t>
            </a:r>
            <a:endParaRPr lang="en-US" sz="2800" dirty="0"/>
          </a:p>
        </p:txBody>
      </p:sp>
      <p:sp>
        <p:nvSpPr>
          <p:cNvPr id="4" name="Teléfono"/>
          <p:cNvSpPr/>
          <p:nvPr/>
        </p:nvSpPr>
        <p:spPr>
          <a:xfrm>
            <a:off x="3737952" y="1371600"/>
            <a:ext cx="1973024" cy="4352544"/>
          </a:xfrm>
          <a:prstGeom prst="roundRect">
            <a:avLst>
              <a:gd name="adj" fmla="val 12977"/>
            </a:avLst>
          </a:prstGeom>
          <a:solidFill>
            <a:srgbClr val="05080F"/>
          </a:solidFill>
          <a:ln w="15875">
            <a:solidFill>
              <a:srgbClr val="2F4A72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450144" y="1453896"/>
            <a:ext cx="548640" cy="64008"/>
          </a:xfrm>
          <a:prstGeom prst="roundRect">
            <a:avLst>
              <a:gd name="adj" fmla="val 50000"/>
            </a:avLst>
          </a:prstGeom>
          <a:solidFill>
            <a:srgbClr val="2F4A72"/>
          </a:solidFill>
          <a:ln w="12700">
            <a:solidFill>
              <a:srgbClr val="2F4A72"/>
            </a:solidFill>
            <a:prstDash val="solid"/>
          </a:ln>
        </p:spPr>
      </p:sp>
      <p:pic>
        <p:nvPicPr>
          <p:cNvPr id="6" name="Image 0" descr="Captura de la we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20248" y="1591056"/>
            <a:ext cx="1808432" cy="3913632"/>
          </a:xfrm>
          <a:prstGeom prst="rect">
            <a:avLst/>
          </a:prstGeom>
        </p:spPr>
      </p:pic>
      <p:sp>
        <p:nvSpPr>
          <p:cNvPr id="7" name="Pie"/>
          <p:cNvSpPr txBox="1"/>
          <p:nvPr/>
        </p:nvSpPr>
        <p:spPr>
          <a:xfrm>
            <a:off x="3490241" y="5815584"/>
            <a:ext cx="2468447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Arriba: tiempo, vuelta y la boia que toca</a:t>
            </a:r>
            <a:endParaRPr lang="en-US" sz="1200" dirty="0"/>
          </a:p>
        </p:txBody>
      </p:sp>
      <p:sp>
        <p:nvSpPr>
          <p:cNvPr id="8" name="Teléfono"/>
          <p:cNvSpPr/>
          <p:nvPr/>
        </p:nvSpPr>
        <p:spPr>
          <a:xfrm>
            <a:off x="6480719" y="1371600"/>
            <a:ext cx="1973024" cy="4352544"/>
          </a:xfrm>
          <a:prstGeom prst="roundRect">
            <a:avLst>
              <a:gd name="adj" fmla="val 12977"/>
            </a:avLst>
          </a:prstGeom>
          <a:solidFill>
            <a:srgbClr val="05080F"/>
          </a:solidFill>
          <a:ln w="15875">
            <a:solidFill>
              <a:srgbClr val="2F4A72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192911" y="1453896"/>
            <a:ext cx="548640" cy="64008"/>
          </a:xfrm>
          <a:prstGeom prst="roundRect">
            <a:avLst>
              <a:gd name="adj" fmla="val 50000"/>
            </a:avLst>
          </a:prstGeom>
          <a:solidFill>
            <a:srgbClr val="2F4A72"/>
          </a:solidFill>
          <a:ln w="12700">
            <a:solidFill>
              <a:srgbClr val="2F4A72"/>
            </a:solidFill>
            <a:prstDash val="solid"/>
          </a:ln>
        </p:spPr>
      </p:sp>
      <p:pic>
        <p:nvPicPr>
          <p:cNvPr id="10" name="Image 1" descr="Captura de la we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015" y="1591056"/>
            <a:ext cx="1808432" cy="3913632"/>
          </a:xfrm>
          <a:prstGeom prst="rect">
            <a:avLst/>
          </a:prstGeom>
        </p:spPr>
      </p:pic>
      <p:sp>
        <p:nvSpPr>
          <p:cNvPr id="11" name="Pie"/>
          <p:cNvSpPr txBox="1"/>
          <p:nvPr/>
        </p:nvSpPr>
        <p:spPr>
          <a:xfrm>
            <a:off x="6233008" y="5815584"/>
            <a:ext cx="2468447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Meta: medalla, récord, puesto y «Otra vez»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4E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548640" y="4114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4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MINIJUEGOS  ·  CAÑÓN «QUE NO PARE LA MÚSICA»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6035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Aguantar la noche contra un enjambre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6035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juego de supervivencia: oleadas de pirañas, medusas, gaviotas, cangrejos, piratas y peces espada van a por el barco. Tú sólo navegas; las armas disparan solas.</a:t>
            </a:r>
            <a:endParaRPr lang="en-US" sz="160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enemigo suelta notas musicales; con ellas subes de nivel y eliges una mejora. Si el agua a bordo llega al tope, el barco se hunde. Si aguantas 7 minutos, amanece y ganas.</a:t>
            </a:r>
            <a:endParaRPr lang="en-US" sz="1600" dirty="0"/>
          </a:p>
        </p:txBody>
      </p:sp>
      <p:sp>
        <p:nvSpPr>
          <p:cNvPr id="5" name="Destacado"/>
          <p:cNvSpPr txBox="1"/>
          <p:nvPr/>
        </p:nvSpPr>
        <p:spPr>
          <a:xfrm>
            <a:off x="548640" y="4937760"/>
            <a:ext cx="6035040" cy="1051560"/>
          </a:xfrm>
          <a:prstGeom prst="roundRect">
            <a:avLst>
              <a:gd name="adj" fmla="val 10435"/>
            </a:avLst>
          </a:prstGeom>
          <a:solidFill>
            <a:srgbClr val="1A3052"/>
          </a:solidFill>
          <a:ln w="12700">
            <a:solidFill>
              <a:srgbClr val="2F4A72"/>
            </a:solidFill>
          </a:ln>
        </p:spPr>
        <p:txBody>
          <a:bodyPr wrap="square" lIns="127000" tIns="203200" rIns="203200" bIns="12700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jugar se eligen el acto (1 o 2) y la dificultad: Tranquila, Normal o Tormenta.</a:t>
            </a:r>
            <a:endParaRPr lang="en-US" sz="1700" dirty="0"/>
          </a:p>
        </p:txBody>
      </p:sp>
      <p:sp>
        <p:nvSpPr>
          <p:cNvPr id="6" name="Teléfono"/>
          <p:cNvSpPr/>
          <p:nvPr/>
        </p:nvSpPr>
        <p:spPr>
          <a:xfrm>
            <a:off x="7984387" y="411480"/>
            <a:ext cx="2623721" cy="5760720"/>
          </a:xfrm>
          <a:prstGeom prst="roundRect">
            <a:avLst>
              <a:gd name="adj" fmla="val 9758"/>
            </a:avLst>
          </a:prstGeom>
          <a:solidFill>
            <a:srgbClr val="05080F"/>
          </a:solidFill>
          <a:ln w="15875">
            <a:solidFill>
              <a:srgbClr val="2F4A72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021928" y="493776"/>
            <a:ext cx="548640" cy="64008"/>
          </a:xfrm>
          <a:prstGeom prst="roundRect">
            <a:avLst>
              <a:gd name="adj" fmla="val 50000"/>
            </a:avLst>
          </a:prstGeom>
          <a:solidFill>
            <a:srgbClr val="2F4A72"/>
          </a:solidFill>
          <a:ln w="12700">
            <a:solidFill>
              <a:srgbClr val="2F4A72"/>
            </a:solidFill>
            <a:prstDash val="solid"/>
          </a:ln>
        </p:spPr>
      </p:sp>
      <p:pic>
        <p:nvPicPr>
          <p:cNvPr id="8" name="Image 0" descr="Captura de la we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6683" y="630936"/>
            <a:ext cx="2459129" cy="53218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4E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4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MINIJUEGOS  ·  CAÑÓN «QUE NO PARE LA MÚSICA»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Jugando: enjambre, mejoras y jefes</a:t>
            </a:r>
            <a:endParaRPr lang="en-US" sz="2800" dirty="0"/>
          </a:p>
        </p:txBody>
      </p:sp>
      <p:sp>
        <p:nvSpPr>
          <p:cNvPr id="4" name="Teléfono"/>
          <p:cNvSpPr/>
          <p:nvPr/>
        </p:nvSpPr>
        <p:spPr>
          <a:xfrm>
            <a:off x="2366569" y="1371600"/>
            <a:ext cx="1973024" cy="4352544"/>
          </a:xfrm>
          <a:prstGeom prst="roundRect">
            <a:avLst>
              <a:gd name="adj" fmla="val 12977"/>
            </a:avLst>
          </a:prstGeom>
          <a:solidFill>
            <a:srgbClr val="05080F"/>
          </a:solidFill>
          <a:ln w="15875">
            <a:solidFill>
              <a:srgbClr val="2F4A72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078761" y="1453896"/>
            <a:ext cx="548640" cy="64008"/>
          </a:xfrm>
          <a:prstGeom prst="roundRect">
            <a:avLst>
              <a:gd name="adj" fmla="val 50000"/>
            </a:avLst>
          </a:prstGeom>
          <a:solidFill>
            <a:srgbClr val="2F4A72"/>
          </a:solidFill>
          <a:ln w="12700">
            <a:solidFill>
              <a:srgbClr val="2F4A72"/>
            </a:solidFill>
            <a:prstDash val="solid"/>
          </a:ln>
        </p:spPr>
      </p:sp>
      <p:pic>
        <p:nvPicPr>
          <p:cNvPr id="6" name="Image 0" descr="Captura de la we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8865" y="1591056"/>
            <a:ext cx="1808432" cy="3913632"/>
          </a:xfrm>
          <a:prstGeom prst="rect">
            <a:avLst/>
          </a:prstGeom>
        </p:spPr>
      </p:pic>
      <p:sp>
        <p:nvSpPr>
          <p:cNvPr id="7" name="Pie"/>
          <p:cNvSpPr txBox="1"/>
          <p:nvPr/>
        </p:nvSpPr>
        <p:spPr>
          <a:xfrm>
            <a:off x="2118858" y="5815584"/>
            <a:ext cx="2468447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Partida llena, con el Tiburón Martillo</a:t>
            </a:r>
            <a:endParaRPr lang="en-US" sz="1200" dirty="0"/>
          </a:p>
        </p:txBody>
      </p:sp>
      <p:sp>
        <p:nvSpPr>
          <p:cNvPr id="8" name="Teléfono"/>
          <p:cNvSpPr/>
          <p:nvPr/>
        </p:nvSpPr>
        <p:spPr>
          <a:xfrm>
            <a:off x="5109336" y="1371600"/>
            <a:ext cx="1973024" cy="4352544"/>
          </a:xfrm>
          <a:prstGeom prst="roundRect">
            <a:avLst>
              <a:gd name="adj" fmla="val 12977"/>
            </a:avLst>
          </a:prstGeom>
          <a:solidFill>
            <a:srgbClr val="05080F"/>
          </a:solidFill>
          <a:ln w="15875">
            <a:solidFill>
              <a:srgbClr val="2F4A72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21528" y="1453896"/>
            <a:ext cx="548640" cy="64008"/>
          </a:xfrm>
          <a:prstGeom prst="roundRect">
            <a:avLst>
              <a:gd name="adj" fmla="val 50000"/>
            </a:avLst>
          </a:prstGeom>
          <a:solidFill>
            <a:srgbClr val="2F4A72"/>
          </a:solidFill>
          <a:ln w="12700">
            <a:solidFill>
              <a:srgbClr val="2F4A72"/>
            </a:solidFill>
            <a:prstDash val="solid"/>
          </a:ln>
        </p:spPr>
      </p:sp>
      <p:pic>
        <p:nvPicPr>
          <p:cNvPr id="10" name="Image 1" descr="Captura de la we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1632" y="1591056"/>
            <a:ext cx="1808432" cy="3913632"/>
          </a:xfrm>
          <a:prstGeom prst="rect">
            <a:avLst/>
          </a:prstGeom>
        </p:spPr>
      </p:pic>
      <p:sp>
        <p:nvSpPr>
          <p:cNvPr id="11" name="Pie"/>
          <p:cNvSpPr txBox="1"/>
          <p:nvPr/>
        </p:nvSpPr>
        <p:spPr>
          <a:xfrm>
            <a:off x="4861624" y="5815584"/>
            <a:ext cx="2468447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subir de nivel: elige una de tres</a:t>
            </a:r>
            <a:endParaRPr lang="en-US" sz="1200" dirty="0"/>
          </a:p>
        </p:txBody>
      </p:sp>
      <p:sp>
        <p:nvSpPr>
          <p:cNvPr id="12" name="Teléfono"/>
          <p:cNvSpPr/>
          <p:nvPr/>
        </p:nvSpPr>
        <p:spPr>
          <a:xfrm>
            <a:off x="7852102" y="1371600"/>
            <a:ext cx="1973024" cy="4352544"/>
          </a:xfrm>
          <a:prstGeom prst="roundRect">
            <a:avLst>
              <a:gd name="adj" fmla="val 12977"/>
            </a:avLst>
          </a:prstGeom>
          <a:solidFill>
            <a:srgbClr val="05080F"/>
          </a:solidFill>
          <a:ln w="15875">
            <a:solidFill>
              <a:srgbClr val="2F4A72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564294" y="1453896"/>
            <a:ext cx="548640" cy="64008"/>
          </a:xfrm>
          <a:prstGeom prst="roundRect">
            <a:avLst>
              <a:gd name="adj" fmla="val 50000"/>
            </a:avLst>
          </a:prstGeom>
          <a:solidFill>
            <a:srgbClr val="2F4A72"/>
          </a:solidFill>
          <a:ln w="12700">
            <a:solidFill>
              <a:srgbClr val="2F4A72"/>
            </a:solidFill>
            <a:prstDash val="solid"/>
          </a:ln>
        </p:spPr>
      </p:sp>
      <p:pic>
        <p:nvPicPr>
          <p:cNvPr id="14" name="Image 2" descr="Captura de la web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4398" y="1591056"/>
            <a:ext cx="1808432" cy="3913632"/>
          </a:xfrm>
          <a:prstGeom prst="rect">
            <a:avLst/>
          </a:prstGeom>
        </p:spPr>
      </p:pic>
      <p:sp>
        <p:nvSpPr>
          <p:cNvPr id="15" name="Pie"/>
          <p:cNvSpPr txBox="1"/>
          <p:nvPr/>
        </p:nvSpPr>
        <p:spPr>
          <a:xfrm>
            <a:off x="7604391" y="5815584"/>
            <a:ext cx="2468447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Kraken, jefe final del acto 2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4E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548640" y="4114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4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MINIJUEGOS  ·  CAÑÓN «QUE NO PARE LA MÚSICA»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6035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Jefes, armas, botín y medallas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60350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Jefes: el Vecino Quejica (2:30), el Tiburón Martillo (4:30) y al final el Barco Pirata Fantasma o el Kraken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armas (Cañón de agua, Subwoofer, Focos, Boyas, Confeti, Traca, Lluvia ácida) y 9 vinilos de música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armas a tope evolucionan: El Drop, Muro de Sonido, Show de Láseres y Bola de Discoteca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Botín que sueltan a veces los enemigos: imán de notas, la Llama y el salvavidas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Medallas de bronce, plata y oro (el oro, venciendo al jefe final); cada una paga una vez al día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 por jefe final: una tabla del Fantasma y otra del Kraken</a:t>
            </a:r>
            <a:endParaRPr lang="en-US" sz="1500" dirty="0"/>
          </a:p>
        </p:txBody>
      </p:sp>
      <p:sp>
        <p:nvSpPr>
          <p:cNvPr id="5" name="Teléfono"/>
          <p:cNvSpPr/>
          <p:nvPr/>
        </p:nvSpPr>
        <p:spPr>
          <a:xfrm>
            <a:off x="7984387" y="411480"/>
            <a:ext cx="2623721" cy="5760720"/>
          </a:xfrm>
          <a:prstGeom prst="roundRect">
            <a:avLst>
              <a:gd name="adj" fmla="val 9758"/>
            </a:avLst>
          </a:prstGeom>
          <a:solidFill>
            <a:srgbClr val="05080F"/>
          </a:solidFill>
          <a:ln w="15875">
            <a:solidFill>
              <a:srgbClr val="2F4A72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021928" y="493776"/>
            <a:ext cx="548640" cy="64008"/>
          </a:xfrm>
          <a:prstGeom prst="roundRect">
            <a:avLst>
              <a:gd name="adj" fmla="val 50000"/>
            </a:avLst>
          </a:prstGeom>
          <a:solidFill>
            <a:srgbClr val="2F4A72"/>
          </a:solidFill>
          <a:ln w="12700">
            <a:solidFill>
              <a:srgbClr val="2F4A72"/>
            </a:solidFill>
            <a:prstDash val="solid"/>
          </a:ln>
        </p:spPr>
      </p:sp>
      <p:pic>
        <p:nvPicPr>
          <p:cNvPr id="7" name="Image 0" descr="Captura de la we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6683" y="630936"/>
            <a:ext cx="2459129" cy="53218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4E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548640" y="4114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4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MINIJUEGOS  ·  DEFENSA DEL CASTILLO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6035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Defender el castillo de Santa Bárbara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6035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juego de defensa de torres: los enemigos del Cañón salen de un remolino y van por un camino de curvas hacia el castillo. Tú vuelas en avioneta y disparas.</a:t>
            </a:r>
            <a:endParaRPr lang="en-US" sz="160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las monedas que ganas levantas islas del mar como torres: siete, las de las fiestas y lugares del mundo, y cada una ataca a su manera. Ibiza, además, da monedas cada 10 s.</a:t>
            </a:r>
            <a:endParaRPr lang="en-US" sz="1600" dirty="0"/>
          </a:p>
        </p:txBody>
      </p:sp>
      <p:sp>
        <p:nvSpPr>
          <p:cNvPr id="5" name="Destacado"/>
          <p:cNvSpPr txBox="1"/>
          <p:nvPr/>
        </p:nvSpPr>
        <p:spPr>
          <a:xfrm>
            <a:off x="548640" y="4937760"/>
            <a:ext cx="6035040" cy="1051560"/>
          </a:xfrm>
          <a:prstGeom prst="roundRect">
            <a:avLst>
              <a:gd name="adj" fmla="val 10435"/>
            </a:avLst>
          </a:prstGeom>
          <a:solidFill>
            <a:srgbClr val="1A3052"/>
          </a:solidFill>
          <a:ln w="12700">
            <a:solidFill>
              <a:srgbClr val="2F4A72"/>
            </a:solidFill>
          </a:ln>
        </p:spPr>
        <p:txBody>
          <a:bodyPr wrap="square" lIns="127000" tIns="203200" rIns="203200" bIns="12700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dificultades × 5, 7 o 10 minutos: 9 combinaciones, cada una con su medalla y su ranking.</a:t>
            </a:r>
            <a:endParaRPr lang="en-US" sz="1700" dirty="0"/>
          </a:p>
        </p:txBody>
      </p:sp>
      <p:sp>
        <p:nvSpPr>
          <p:cNvPr id="6" name="Teléfono"/>
          <p:cNvSpPr/>
          <p:nvPr/>
        </p:nvSpPr>
        <p:spPr>
          <a:xfrm>
            <a:off x="7984387" y="411480"/>
            <a:ext cx="2623721" cy="5760720"/>
          </a:xfrm>
          <a:prstGeom prst="roundRect">
            <a:avLst>
              <a:gd name="adj" fmla="val 9758"/>
            </a:avLst>
          </a:prstGeom>
          <a:solidFill>
            <a:srgbClr val="05080F"/>
          </a:solidFill>
          <a:ln w="15875">
            <a:solidFill>
              <a:srgbClr val="2F4A72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021928" y="493776"/>
            <a:ext cx="548640" cy="64008"/>
          </a:xfrm>
          <a:prstGeom prst="roundRect">
            <a:avLst>
              <a:gd name="adj" fmla="val 50000"/>
            </a:avLst>
          </a:prstGeom>
          <a:solidFill>
            <a:srgbClr val="2F4A72"/>
          </a:solidFill>
          <a:ln w="12700">
            <a:solidFill>
              <a:srgbClr val="2F4A72"/>
            </a:solidFill>
            <a:prstDash val="solid"/>
          </a:ln>
        </p:spPr>
      </p:sp>
      <p:pic>
        <p:nvPicPr>
          <p:cNvPr id="8" name="Image 0" descr="Captura de la we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6683" y="630936"/>
            <a:ext cx="2459129" cy="53218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4E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4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MINIJUEGOS  ·  DEFENSA DEL CASTILLO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Islas como torres y una mascota de premio</a:t>
            </a:r>
            <a:endParaRPr lang="en-US" sz="2800" dirty="0"/>
          </a:p>
        </p:txBody>
      </p:sp>
      <p:sp>
        <p:nvSpPr>
          <p:cNvPr id="4" name="Teléfono"/>
          <p:cNvSpPr/>
          <p:nvPr/>
        </p:nvSpPr>
        <p:spPr>
          <a:xfrm>
            <a:off x="2366569" y="1371600"/>
            <a:ext cx="1973024" cy="4352544"/>
          </a:xfrm>
          <a:prstGeom prst="roundRect">
            <a:avLst>
              <a:gd name="adj" fmla="val 12977"/>
            </a:avLst>
          </a:prstGeom>
          <a:solidFill>
            <a:srgbClr val="05080F"/>
          </a:solidFill>
          <a:ln w="15875">
            <a:solidFill>
              <a:srgbClr val="2F4A72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078761" y="1453896"/>
            <a:ext cx="548640" cy="64008"/>
          </a:xfrm>
          <a:prstGeom prst="roundRect">
            <a:avLst>
              <a:gd name="adj" fmla="val 50000"/>
            </a:avLst>
          </a:prstGeom>
          <a:solidFill>
            <a:srgbClr val="2F4A72"/>
          </a:solidFill>
          <a:ln w="12700">
            <a:solidFill>
              <a:srgbClr val="2F4A72"/>
            </a:solidFill>
            <a:prstDash val="solid"/>
          </a:ln>
        </p:spPr>
      </p:sp>
      <p:pic>
        <p:nvPicPr>
          <p:cNvPr id="6" name="Image 0" descr="Captura de la we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8865" y="1591056"/>
            <a:ext cx="1808432" cy="3913632"/>
          </a:xfrm>
          <a:prstGeom prst="rect">
            <a:avLst/>
          </a:prstGeom>
        </p:spPr>
      </p:pic>
      <p:sp>
        <p:nvSpPr>
          <p:cNvPr id="7" name="Pie"/>
          <p:cNvSpPr txBox="1"/>
          <p:nvPr/>
        </p:nvSpPr>
        <p:spPr>
          <a:xfrm>
            <a:off x="2118858" y="5815584"/>
            <a:ext cx="2468447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siete islas puestas; Ibiza paga «+59»</a:t>
            </a:r>
            <a:endParaRPr lang="en-US" sz="1200" dirty="0"/>
          </a:p>
        </p:txBody>
      </p:sp>
      <p:sp>
        <p:nvSpPr>
          <p:cNvPr id="8" name="Teléfono"/>
          <p:cNvSpPr/>
          <p:nvPr/>
        </p:nvSpPr>
        <p:spPr>
          <a:xfrm>
            <a:off x="5109336" y="1371600"/>
            <a:ext cx="1973024" cy="4352544"/>
          </a:xfrm>
          <a:prstGeom prst="roundRect">
            <a:avLst>
              <a:gd name="adj" fmla="val 12977"/>
            </a:avLst>
          </a:prstGeom>
          <a:solidFill>
            <a:srgbClr val="05080F"/>
          </a:solidFill>
          <a:ln w="15875">
            <a:solidFill>
              <a:srgbClr val="2F4A72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21528" y="1453896"/>
            <a:ext cx="548640" cy="64008"/>
          </a:xfrm>
          <a:prstGeom prst="roundRect">
            <a:avLst>
              <a:gd name="adj" fmla="val 50000"/>
            </a:avLst>
          </a:prstGeom>
          <a:solidFill>
            <a:srgbClr val="2F4A72"/>
          </a:solidFill>
          <a:ln w="12700">
            <a:solidFill>
              <a:srgbClr val="2F4A72"/>
            </a:solidFill>
            <a:prstDash val="solid"/>
          </a:ln>
        </p:spPr>
      </p:sp>
      <p:pic>
        <p:nvPicPr>
          <p:cNvPr id="10" name="Image 1" descr="Captura de la we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1632" y="1591056"/>
            <a:ext cx="1808432" cy="3913632"/>
          </a:xfrm>
          <a:prstGeom prst="rect">
            <a:avLst/>
          </a:prstGeom>
        </p:spPr>
      </p:pic>
      <p:sp>
        <p:nvSpPr>
          <p:cNvPr id="11" name="Pie"/>
          <p:cNvSpPr txBox="1"/>
          <p:nvPr/>
        </p:nvSpPr>
        <p:spPr>
          <a:xfrm>
            <a:off x="4861624" y="5815584"/>
            <a:ext cx="2468447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Construir: cada isla con su foto y precio</a:t>
            </a:r>
            <a:endParaRPr lang="en-US" sz="1200" dirty="0"/>
          </a:p>
        </p:txBody>
      </p:sp>
      <p:sp>
        <p:nvSpPr>
          <p:cNvPr id="12" name="Teléfono"/>
          <p:cNvSpPr/>
          <p:nvPr/>
        </p:nvSpPr>
        <p:spPr>
          <a:xfrm>
            <a:off x="7852102" y="1371600"/>
            <a:ext cx="1973024" cy="4352544"/>
          </a:xfrm>
          <a:prstGeom prst="roundRect">
            <a:avLst>
              <a:gd name="adj" fmla="val 12977"/>
            </a:avLst>
          </a:prstGeom>
          <a:solidFill>
            <a:srgbClr val="05080F"/>
          </a:solidFill>
          <a:ln w="15875">
            <a:solidFill>
              <a:srgbClr val="2F4A72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564294" y="1453896"/>
            <a:ext cx="548640" cy="64008"/>
          </a:xfrm>
          <a:prstGeom prst="roundRect">
            <a:avLst>
              <a:gd name="adj" fmla="val 50000"/>
            </a:avLst>
          </a:prstGeom>
          <a:solidFill>
            <a:srgbClr val="2F4A72"/>
          </a:solidFill>
          <a:ln w="12700">
            <a:solidFill>
              <a:srgbClr val="2F4A72"/>
            </a:solidFill>
            <a:prstDash val="solid"/>
          </a:ln>
        </p:spPr>
      </p:sp>
      <p:pic>
        <p:nvPicPr>
          <p:cNvPr id="14" name="Image 2" descr="Captura de la web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4398" y="1591056"/>
            <a:ext cx="1808432" cy="3913632"/>
          </a:xfrm>
          <a:prstGeom prst="rect">
            <a:avLst/>
          </a:prstGeom>
        </p:spPr>
      </p:pic>
      <p:sp>
        <p:nvSpPr>
          <p:cNvPr id="15" name="Pie"/>
          <p:cNvSpPr txBox="1"/>
          <p:nvPr/>
        </p:nvSpPr>
        <p:spPr>
          <a:xfrm>
            <a:off x="7604391" y="5815584"/>
            <a:ext cx="2468447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Victoria en Tormenta: desbloquea Cañoncito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4E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4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MINIJUEGOS  ·  CÓMO SE LLEGA Y QUÉ PREMIA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Dónde está cada juego y qué da</a:t>
            </a:r>
            <a:endParaRPr lang="en-US" sz="28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1968364"/>
                <a:gridCol w="2863075"/>
                <a:gridCol w="3936728"/>
                <a:gridCol w="232624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Juego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4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Dónde está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4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premia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4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Ranking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4F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 Rápidos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salida, junto al semáforo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Logros «Primera regata» y «Rápido» (con la mascota Tortuga turbo)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Mejor tiempo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Cañón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L'Illeta dels Banyets: panel de la isla y «Jugar»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Puntos y monedas por medalla, una vez al día cada una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 jefe final: Fantasma y Kraken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Castillo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Castillo de Santa Bárbara: panel y «Jugar»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 logro por dificultad; Cañoncito y la estela del vórtice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 tablas: 3 dificultades × 3 duraciones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 tres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Tablón del faro (Tabarca), minimapa y la ayuda «!»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Hoy todo de muestra: cifras y premios los fija Álvaro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También en /ranking de la web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4E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4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MINIJUEGOS  ·  LOS TRES JUEGOS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Qué falta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necesarios para salir   ·   2 pueden esperar</a:t>
            </a:r>
            <a:endParaRPr lang="en-US" sz="1300" dirty="0"/>
          </a:p>
        </p:txBody>
      </p:sp>
      <p:sp>
        <p:nvSpPr>
          <p:cNvPr id="5" name="Fila"/>
          <p:cNvSpPr/>
          <p:nvPr/>
        </p:nvSpPr>
        <p:spPr>
          <a:xfrm>
            <a:off x="548640" y="1737360"/>
            <a:ext cx="11094415" cy="640080"/>
          </a:xfrm>
          <a:prstGeom prst="roundRect">
            <a:avLst>
              <a:gd name="adj" fmla="val 14286"/>
            </a:avLst>
          </a:prstGeom>
          <a:solidFill>
            <a:srgbClr val="1A3052"/>
          </a:solidFill>
          <a:ln w="12700">
            <a:solidFill>
              <a:srgbClr val="1A3052"/>
            </a:solidFill>
            <a:prstDash val="solid"/>
          </a:ln>
        </p:spPr>
      </p:sp>
      <p:sp>
        <p:nvSpPr>
          <p:cNvPr id="6" name="Necesario para salir"/>
          <p:cNvSpPr txBox="1"/>
          <p:nvPr/>
        </p:nvSpPr>
        <p:spPr>
          <a:xfrm>
            <a:off x="731520" y="1883664"/>
            <a:ext cx="2148840" cy="347472"/>
          </a:xfrm>
          <a:prstGeom prst="roundRect">
            <a:avLst>
              <a:gd name="adj" fmla="val 50000"/>
            </a:avLst>
          </a:prstGeom>
          <a:solidFill>
            <a:srgbClr val="EC4F24"/>
          </a:solidFill>
          <a:ln w="19050">
            <a:solidFill>
              <a:srgbClr val="EC4F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Necesario para salir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154680" y="1737360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Quitar los atajos de prueba: enlaces que empiezan partidas a medias y el botón «Derrota: sumergirse»</a:t>
            </a:r>
            <a:endParaRPr lang="en-US" sz="1500" dirty="0"/>
          </a:p>
        </p:txBody>
      </p:sp>
      <p:sp>
        <p:nvSpPr>
          <p:cNvPr id="8" name="Quién"/>
          <p:cNvSpPr txBox="1"/>
          <p:nvPr/>
        </p:nvSpPr>
        <p:spPr>
          <a:xfrm>
            <a:off x="9905695" y="17373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</a:t>
            </a:r>
            <a:endParaRPr lang="en-US" sz="1200" dirty="0"/>
          </a:p>
        </p:txBody>
      </p:sp>
      <p:sp>
        <p:nvSpPr>
          <p:cNvPr id="9" name="Fila"/>
          <p:cNvSpPr/>
          <p:nvPr/>
        </p:nvSpPr>
        <p:spPr>
          <a:xfrm>
            <a:off x="548640" y="2505456"/>
            <a:ext cx="11094415" cy="640080"/>
          </a:xfrm>
          <a:prstGeom prst="roundRect">
            <a:avLst>
              <a:gd name="adj" fmla="val 14286"/>
            </a:avLst>
          </a:prstGeom>
          <a:solidFill>
            <a:srgbClr val="1A3052"/>
          </a:solidFill>
          <a:ln w="12700">
            <a:solidFill>
              <a:srgbClr val="1A3052"/>
            </a:solidFill>
            <a:prstDash val="solid"/>
          </a:ln>
        </p:spPr>
      </p:sp>
      <p:sp>
        <p:nvSpPr>
          <p:cNvPr id="10" name="Necesario para salir"/>
          <p:cNvSpPr txBox="1"/>
          <p:nvPr/>
        </p:nvSpPr>
        <p:spPr>
          <a:xfrm>
            <a:off x="731520" y="2651760"/>
            <a:ext cx="2148840" cy="347472"/>
          </a:xfrm>
          <a:prstGeom prst="roundRect">
            <a:avLst>
              <a:gd name="adj" fmla="val 50000"/>
            </a:avLst>
          </a:prstGeom>
          <a:solidFill>
            <a:srgbClr val="EC4F24"/>
          </a:solidFill>
          <a:ln w="19050">
            <a:solidFill>
              <a:srgbClr val="EC4F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Necesario para salir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154680" y="2505456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el botón «Menú» y el «!» no tapen las tarjetas de la carrera en el móvil</a:t>
            </a:r>
            <a:endParaRPr lang="en-US" sz="1500" dirty="0"/>
          </a:p>
        </p:txBody>
      </p:sp>
      <p:sp>
        <p:nvSpPr>
          <p:cNvPr id="12" name="Quién"/>
          <p:cNvSpPr txBox="1"/>
          <p:nvPr/>
        </p:nvSpPr>
        <p:spPr>
          <a:xfrm>
            <a:off x="9905695" y="2505456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</a:t>
            </a:r>
            <a:endParaRPr lang="en-US" sz="1200" dirty="0"/>
          </a:p>
        </p:txBody>
      </p:sp>
      <p:sp>
        <p:nvSpPr>
          <p:cNvPr id="13" name="Fila"/>
          <p:cNvSpPr/>
          <p:nvPr/>
        </p:nvSpPr>
        <p:spPr>
          <a:xfrm>
            <a:off x="548640" y="3273552"/>
            <a:ext cx="11094415" cy="640080"/>
          </a:xfrm>
          <a:prstGeom prst="roundRect">
            <a:avLst>
              <a:gd name="adj" fmla="val 14286"/>
            </a:avLst>
          </a:prstGeom>
          <a:solidFill>
            <a:srgbClr val="1A3052"/>
          </a:solidFill>
          <a:ln w="12700">
            <a:solidFill>
              <a:srgbClr val="1A3052"/>
            </a:solidFill>
            <a:prstDash val="solid"/>
          </a:ln>
        </p:spPr>
      </p:sp>
      <p:sp>
        <p:nvSpPr>
          <p:cNvPr id="14" name="Necesario para salir"/>
          <p:cNvSpPr txBox="1"/>
          <p:nvPr/>
        </p:nvSpPr>
        <p:spPr>
          <a:xfrm>
            <a:off x="731520" y="3419856"/>
            <a:ext cx="2148840" cy="347472"/>
          </a:xfrm>
          <a:prstGeom prst="roundRect">
            <a:avLst>
              <a:gd name="adj" fmla="val 50000"/>
            </a:avLst>
          </a:prstGeom>
          <a:solidFill>
            <a:srgbClr val="EC4F24"/>
          </a:solidFill>
          <a:ln w="19050">
            <a:solidFill>
              <a:srgbClr val="EC4F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Necesario para salir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154680" y="3273552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Aprobar los tres juegos: nombres, textos, el Vecino Quejica, las mascotas y el Castillo entero</a:t>
            </a:r>
            <a:endParaRPr lang="en-US" sz="1500" dirty="0"/>
          </a:p>
        </p:txBody>
      </p:sp>
      <p:sp>
        <p:nvSpPr>
          <p:cNvPr id="16" name="Quién"/>
          <p:cNvSpPr txBox="1"/>
          <p:nvPr/>
        </p:nvSpPr>
        <p:spPr>
          <a:xfrm>
            <a:off x="9905695" y="327355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Álvaro</a:t>
            </a:r>
            <a:endParaRPr lang="en-US" sz="1200" dirty="0"/>
          </a:p>
        </p:txBody>
      </p:sp>
      <p:sp>
        <p:nvSpPr>
          <p:cNvPr id="17" name="Fila"/>
          <p:cNvSpPr/>
          <p:nvPr/>
        </p:nvSpPr>
        <p:spPr>
          <a:xfrm>
            <a:off x="548640" y="4041648"/>
            <a:ext cx="11094415" cy="640080"/>
          </a:xfrm>
          <a:prstGeom prst="roundRect">
            <a:avLst>
              <a:gd name="adj" fmla="val 14286"/>
            </a:avLst>
          </a:prstGeom>
          <a:solidFill>
            <a:srgbClr val="1A3052"/>
          </a:solidFill>
          <a:ln w="12700">
            <a:solidFill>
              <a:srgbClr val="1A3052"/>
            </a:solidFill>
            <a:prstDash val="solid"/>
          </a:ln>
        </p:spPr>
      </p:sp>
      <p:sp>
        <p:nvSpPr>
          <p:cNvPr id="18" name="Necesario para salir"/>
          <p:cNvSpPr txBox="1"/>
          <p:nvPr/>
        </p:nvSpPr>
        <p:spPr>
          <a:xfrm>
            <a:off x="731520" y="4187952"/>
            <a:ext cx="2148840" cy="347472"/>
          </a:xfrm>
          <a:prstGeom prst="roundRect">
            <a:avLst>
              <a:gd name="adj" fmla="val 50000"/>
            </a:avLst>
          </a:prstGeom>
          <a:solidFill>
            <a:srgbClr val="EC4F24"/>
          </a:solidFill>
          <a:ln w="19050">
            <a:solidFill>
              <a:srgbClr val="EC4F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Necesario para salir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154680" y="4041648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Fijar los premios: puntos y monedas por medalla y por logro, y los 80 s del logro «Rápido»</a:t>
            </a:r>
            <a:endParaRPr lang="en-US" sz="1500" dirty="0"/>
          </a:p>
        </p:txBody>
      </p:sp>
      <p:sp>
        <p:nvSpPr>
          <p:cNvPr id="20" name="Quién"/>
          <p:cNvSpPr txBox="1"/>
          <p:nvPr/>
        </p:nvSpPr>
        <p:spPr>
          <a:xfrm>
            <a:off x="9905695" y="404164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Álvaro</a:t>
            </a:r>
            <a:endParaRPr lang="en-US" sz="1200" dirty="0"/>
          </a:p>
        </p:txBody>
      </p:sp>
      <p:sp>
        <p:nvSpPr>
          <p:cNvPr id="21" name="Fila"/>
          <p:cNvSpPr/>
          <p:nvPr/>
        </p:nvSpPr>
        <p:spPr>
          <a:xfrm>
            <a:off x="548640" y="4809744"/>
            <a:ext cx="11094415" cy="640080"/>
          </a:xfrm>
          <a:prstGeom prst="roundRect">
            <a:avLst>
              <a:gd name="adj" fmla="val 14286"/>
            </a:avLst>
          </a:prstGeom>
          <a:solidFill>
            <a:srgbClr val="1A3052"/>
          </a:solidFill>
          <a:ln w="12700">
            <a:solidFill>
              <a:srgbClr val="1A3052"/>
            </a:solidFill>
            <a:prstDash val="solid"/>
          </a:ln>
        </p:spPr>
      </p:sp>
      <p:sp>
        <p:nvSpPr>
          <p:cNvPr id="22" name="Puede esperar"/>
          <p:cNvSpPr txBox="1"/>
          <p:nvPr/>
        </p:nvSpPr>
        <p:spPr>
          <a:xfrm>
            <a:off x="731520" y="4956048"/>
            <a:ext cx="2148840" cy="347472"/>
          </a:xfrm>
          <a:prstGeom prst="roundRect">
            <a:avLst>
              <a:gd name="adj" fmla="val 50000"/>
            </a:avLst>
          </a:prstGeom>
          <a:solidFill>
            <a:srgbClr val="0B1830"/>
          </a:solidFill>
          <a:ln w="19050">
            <a:solidFill>
              <a:srgbClr val="B9A6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Puede esperar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154680" y="4809744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Ajustes de juego: cómo se hunde el barco al perder en el Cañón y si el Castillo se endurece</a:t>
            </a:r>
            <a:endParaRPr lang="en-US" sz="1500" dirty="0"/>
          </a:p>
        </p:txBody>
      </p:sp>
      <p:sp>
        <p:nvSpPr>
          <p:cNvPr id="24" name="Quién"/>
          <p:cNvSpPr txBox="1"/>
          <p:nvPr/>
        </p:nvSpPr>
        <p:spPr>
          <a:xfrm>
            <a:off x="9905695" y="4809744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</a:t>
            </a:r>
            <a:endParaRPr lang="en-US" sz="1200" dirty="0"/>
          </a:p>
        </p:txBody>
      </p:sp>
      <p:sp>
        <p:nvSpPr>
          <p:cNvPr id="25" name="Fila"/>
          <p:cNvSpPr/>
          <p:nvPr/>
        </p:nvSpPr>
        <p:spPr>
          <a:xfrm>
            <a:off x="548640" y="5577840"/>
            <a:ext cx="11094415" cy="640080"/>
          </a:xfrm>
          <a:prstGeom prst="roundRect">
            <a:avLst>
              <a:gd name="adj" fmla="val 14286"/>
            </a:avLst>
          </a:prstGeom>
          <a:solidFill>
            <a:srgbClr val="1A3052"/>
          </a:solidFill>
          <a:ln w="12700">
            <a:solidFill>
              <a:srgbClr val="1A3052"/>
            </a:solidFill>
            <a:prstDash val="solid"/>
          </a:ln>
        </p:spPr>
      </p:sp>
      <p:sp>
        <p:nvSpPr>
          <p:cNvPr id="26" name="Puede esperar"/>
          <p:cNvSpPr txBox="1"/>
          <p:nvPr/>
        </p:nvSpPr>
        <p:spPr>
          <a:xfrm>
            <a:off x="731520" y="5724144"/>
            <a:ext cx="2148840" cy="347472"/>
          </a:xfrm>
          <a:prstGeom prst="roundRect">
            <a:avLst>
              <a:gd name="adj" fmla="val 50000"/>
            </a:avLst>
          </a:prstGeom>
          <a:solidFill>
            <a:srgbClr val="0B1830"/>
          </a:solidFill>
          <a:ln w="19050">
            <a:solidFill>
              <a:srgbClr val="B9A6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Puede esperar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3154680" y="5577840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Música de BOIA para los juegos (hoy la crea la propia web) y el acto 3 del Cañón</a:t>
            </a:r>
            <a:endParaRPr lang="en-US" sz="1500" dirty="0"/>
          </a:p>
        </p:txBody>
      </p:sp>
      <p:sp>
        <p:nvSpPr>
          <p:cNvPr id="28" name="Quién"/>
          <p:cNvSpPr txBox="1"/>
          <p:nvPr/>
        </p:nvSpPr>
        <p:spPr>
          <a:xfrm>
            <a:off x="9905695" y="55778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Álvaro y socios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4E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4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MINIJUEGOS  ·  LOS TRES JUEGOS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Preguntas y propuestas</a:t>
            </a:r>
            <a:endParaRPr lang="en-US" sz="2800" dirty="0"/>
          </a:p>
        </p:txBody>
      </p:sp>
      <p:sp>
        <p:nvSpPr>
          <p:cNvPr id="4" name="Preguntas"/>
          <p:cNvSpPr/>
          <p:nvPr/>
        </p:nvSpPr>
        <p:spPr>
          <a:xfrm>
            <a:off x="548640" y="1417320"/>
            <a:ext cx="5364328" cy="4800600"/>
          </a:xfrm>
          <a:prstGeom prst="roundRect">
            <a:avLst>
              <a:gd name="adj" fmla="val 2667"/>
            </a:avLst>
          </a:prstGeom>
          <a:solidFill>
            <a:srgbClr val="1A3052"/>
          </a:solidFill>
          <a:ln w="12700">
            <a:solidFill>
              <a:srgbClr val="2F4A7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457200" cy="457200"/>
          </a:xfrm>
          <a:prstGeom prst="ellipse">
            <a:avLst/>
          </a:prstGeom>
          <a:solidFill>
            <a:srgbClr val="EC4F24"/>
          </a:solidFill>
          <a:ln>
            <a:solidFill>
              <a:srgbClr val="EC4F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9164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Preguntas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481568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¿Os gustan los nombres «Los Rápidos», «Que no pare la música» y «Defensa del Castillo», y las mascotas?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¿Los juegos dan sólo puntos y monedas, o también algo de verdad (un descuento, una consumición)?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¿El Castillo se queda así (hoy se gana fácil, también en Tormenta) o lo hacemos más difícil?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¿Salen los tres el primer día o abrimos uno nuevo cada cierto tiempo para tener novedades?</a:t>
            </a:r>
            <a:endParaRPr lang="en-US" sz="1500" dirty="0"/>
          </a:p>
        </p:txBody>
      </p:sp>
      <p:sp>
        <p:nvSpPr>
          <p:cNvPr id="8" name="Propuestas"/>
          <p:cNvSpPr/>
          <p:nvPr/>
        </p:nvSpPr>
        <p:spPr>
          <a:xfrm>
            <a:off x="6278728" y="1417320"/>
            <a:ext cx="5364328" cy="4800600"/>
          </a:xfrm>
          <a:prstGeom prst="roundRect">
            <a:avLst>
              <a:gd name="adj" fmla="val 2667"/>
            </a:avLst>
          </a:prstGeom>
          <a:solidFill>
            <a:srgbClr val="1A3052"/>
          </a:solidFill>
          <a:ln w="12700">
            <a:solidFill>
              <a:srgbClr val="2F4A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53048" y="1691640"/>
            <a:ext cx="457200" cy="457200"/>
          </a:xfrm>
          <a:prstGeom prst="ellipse">
            <a:avLst/>
          </a:prstGeom>
          <a:solidFill>
            <a:srgbClr val="B9A6FF"/>
          </a:solidFill>
          <a:ln>
            <a:solidFill>
              <a:srgbClr val="B9A6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08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147408" y="169164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Propuestas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53048" y="2377440"/>
            <a:ext cx="481568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reto semanal en el Tablón del faro (p. ej. «gana el Castillo en Tormenta») con un descuento de premio.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botón «Compartir mi medalla» en la tarjeta final, con una imagen lista para Instagram.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jefe del acto 3 del Cañón inspirado en el cartel de una fiesta de BOIA.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pantalla con el ranking de Los Rápidos en directo durante la fiesta.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4E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0" y="1325880"/>
            <a:ext cx="3749040" cy="3749040"/>
          </a:xfrm>
          <a:prstGeom prst="ellipse">
            <a:avLst/>
          </a:prstGeom>
          <a:solidFill>
            <a:srgbClr val="0B1830"/>
          </a:solidFill>
          <a:ln w="25400">
            <a:solidFill>
              <a:srgbClr val="2F4A72"/>
            </a:solidFill>
            <a:prstDash val="solid"/>
          </a:ln>
        </p:spPr>
      </p:sp>
      <p:pic>
        <p:nvPicPr>
          <p:cNvPr id="3" name="Image 0" descr="La mascota de BO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9616" y="1783080"/>
            <a:ext cx="2831808" cy="2834640"/>
          </a:xfrm>
          <a:prstGeom prst="rect">
            <a:avLst/>
          </a:prstGeom>
        </p:spPr>
      </p:pic>
      <p:sp>
        <p:nvSpPr>
          <p:cNvPr id="4" name="Número de parte"/>
          <p:cNvSpPr txBox="1"/>
          <p:nvPr/>
        </p:nvSpPr>
        <p:spPr>
          <a:xfrm>
            <a:off x="548640" y="64008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0" dirty="0">
                <a:solidFill>
                  <a:srgbClr val="EC4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2000" dirty="0"/>
          </a:p>
        </p:txBody>
      </p:sp>
      <p:sp>
        <p:nvSpPr>
          <p:cNvPr id="5" name="Título"/>
          <p:cNvSpPr txBox="1"/>
          <p:nvPr/>
        </p:nvSpPr>
        <p:spPr>
          <a:xfrm>
            <a:off x="548640" y="2606040"/>
            <a:ext cx="7315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Admin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1148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panel para cambiar la web sin tocar código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4E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4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·  ADMIN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Pendiente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69494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 parte está por escribir: la escribe la tarea T210.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0" y="1828800"/>
            <a:ext cx="3383280" cy="3383280"/>
          </a:xfrm>
          <a:prstGeom prst="ellipse">
            <a:avLst/>
          </a:prstGeom>
          <a:solidFill>
            <a:srgbClr val="07101F"/>
          </a:solidFill>
          <a:ln w="25400">
            <a:solidFill>
              <a:srgbClr val="2F4A72"/>
            </a:solidFill>
            <a:prstDash val="solid"/>
          </a:ln>
        </p:spPr>
      </p:sp>
      <p:pic>
        <p:nvPicPr>
          <p:cNvPr id="6" name="Image 0" descr="La mascota de BO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2359" y="2240280"/>
            <a:ext cx="2557762" cy="2560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4E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0" y="1325880"/>
            <a:ext cx="3749040" cy="3749040"/>
          </a:xfrm>
          <a:prstGeom prst="ellipse">
            <a:avLst/>
          </a:prstGeom>
          <a:solidFill>
            <a:srgbClr val="0B1830"/>
          </a:solidFill>
          <a:ln w="25400">
            <a:solidFill>
              <a:srgbClr val="2F4A72"/>
            </a:solidFill>
            <a:prstDash val="solid"/>
          </a:ln>
        </p:spPr>
      </p:sp>
      <p:pic>
        <p:nvPicPr>
          <p:cNvPr id="3" name="Image 0" descr="La mascota de BO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9616" y="1783080"/>
            <a:ext cx="2831808" cy="2834640"/>
          </a:xfrm>
          <a:prstGeom prst="rect">
            <a:avLst/>
          </a:prstGeom>
        </p:spPr>
      </p:pic>
      <p:sp>
        <p:nvSpPr>
          <p:cNvPr id="4" name="Número de parte"/>
          <p:cNvSpPr txBox="1"/>
          <p:nvPr/>
        </p:nvSpPr>
        <p:spPr>
          <a:xfrm>
            <a:off x="548640" y="64008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0" dirty="0">
                <a:solidFill>
                  <a:srgbClr val="EC4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2000" dirty="0"/>
          </a:p>
        </p:txBody>
      </p:sp>
      <p:sp>
        <p:nvSpPr>
          <p:cNvPr id="5" name="Título"/>
          <p:cNvSpPr txBox="1"/>
          <p:nvPr/>
        </p:nvSpPr>
        <p:spPr>
          <a:xfrm>
            <a:off x="548640" y="2606040"/>
            <a:ext cx="7315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Hoja de ruta para salir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1148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lo necesario para publicar, quién lo hace y qué decidimos hoy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4E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C4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·  HOJA DE RUTA PARA SALIR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Pendiente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69494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 parte está por escribir: la escribe la tarea T211.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0" y="1828800"/>
            <a:ext cx="3383280" cy="3383280"/>
          </a:xfrm>
          <a:prstGeom prst="ellipse">
            <a:avLst/>
          </a:prstGeom>
          <a:solidFill>
            <a:srgbClr val="07101F"/>
          </a:solidFill>
          <a:ln w="25400">
            <a:solidFill>
              <a:srgbClr val="2F4A72"/>
            </a:solidFill>
            <a:prstDash val="solid"/>
          </a:ln>
        </p:spPr>
      </p:sp>
      <p:pic>
        <p:nvPicPr>
          <p:cNvPr id="6" name="Image 0" descr="La mascota de BO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2359" y="2240280"/>
            <a:ext cx="2557762" cy="2560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4E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BOIA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BOIA.PLANET — qué hay y qué falta para salir</dc:title>
  <dc:subject>PptxGenJS Presentation</dc:subject>
  <dc:creator>BOIA</dc:creator>
  <cp:lastModifiedBy>BOIA</cp:lastModifiedBy>
  <cp:revision>1</cp:revision>
  <dcterms:created xsi:type="dcterms:W3CDTF">2026-10-07T19:58:11Z</dcterms:created>
  <dcterms:modified xsi:type="dcterms:W3CDTF">2026-10-07T19:58:11Z</dcterms:modified>
</cp:coreProperties>
</file>